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64" r:id="rId3"/>
    <p:sldId id="257" r:id="rId4"/>
    <p:sldId id="273" r:id="rId5"/>
    <p:sldId id="274" r:id="rId6"/>
    <p:sldId id="271" r:id="rId7"/>
    <p:sldId id="275" r:id="rId8"/>
    <p:sldId id="276" r:id="rId9"/>
    <p:sldId id="278" r:id="rId10"/>
    <p:sldId id="277" r:id="rId11"/>
    <p:sldId id="279" r:id="rId12"/>
    <p:sldId id="280" r:id="rId13"/>
    <p:sldId id="272" r:id="rId14"/>
    <p:sldId id="267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779" autoAdjust="0"/>
    <p:restoredTop sz="94662" autoAdjust="0"/>
  </p:normalViewPr>
  <p:slideViewPr>
    <p:cSldViewPr snapToGrid="0">
      <p:cViewPr varScale="1">
        <p:scale>
          <a:sx n="56" d="100"/>
          <a:sy n="56" d="100"/>
        </p:scale>
        <p:origin x="816" y="4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Oval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fld id="{6AD6EE87-EBD5-4F12-A48A-63ACA297AC8F}" type="datetimeFigureOut">
              <a:rPr lang="en-US" dirty="0"/>
              <a:t>1/24/2024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‹Nº›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D3794B-289A-4A80-97D7-111025398D45}" type="datetimeFigureOut">
              <a:rPr lang="en-US" dirty="0"/>
              <a:t>1/24/2024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Oval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b="0" spc="200" baseline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61015F-7CC6-4D0A-9D87-873EA4C304CC}" type="datetimeFigureOut">
              <a:rPr lang="en-US" dirty="0"/>
              <a:t>1/24/2024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‹Nº›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24127" y="2286000"/>
            <a:ext cx="4754880" cy="4023360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89320" y="2286000"/>
            <a:ext cx="4754880" cy="4023360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C6A301-0538-44EC-B09D-202E1042A48B}" type="datetimeFigureOut">
              <a:rPr lang="en-US" dirty="0"/>
              <a:t>1/24/2024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300" b="0" cap="none" baseline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24128" y="2967788"/>
            <a:ext cx="4754880" cy="3341572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99088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300" b="0" kern="1200" cap="none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None/>
            </a:pPr>
            <a:r>
              <a:rPr lang="es-ES"/>
              <a:t>Haga clic para modificar el estilo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990888" y="2967788"/>
            <a:ext cx="4754880" cy="3341572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89574A-8875-45EF-8EA2-3CAA0F7ABC4C}" type="datetimeFigureOut">
              <a:rPr lang="en-US" dirty="0"/>
              <a:t>1/24/2024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EF4D4C-5367-4C26-9E2B-D8088D7FCA81}" type="datetimeFigureOut">
              <a:rPr lang="en-US" dirty="0"/>
              <a:t>1/24/2024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E91E96-98B0-4413-9547-46F3504108EF}" type="datetimeFigureOut">
              <a:rPr lang="en-US" dirty="0"/>
              <a:t>1/24/2024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24128" y="471509"/>
            <a:ext cx="4389120" cy="173736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4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5000" y="822960"/>
            <a:ext cx="5678424" cy="518464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128" y="2257506"/>
            <a:ext cx="4389120" cy="3762294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C68B11-C5A8-448C-8CE9-B1A273C79CFC}" type="datetimeFigureOut">
              <a:rPr lang="en-US" dirty="0"/>
              <a:t>1/24/2024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8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12188952" cy="4572000"/>
          </a:xfrm>
          <a:solidFill>
            <a:schemeClr val="accent1">
              <a:lumMod val="60000"/>
              <a:lumOff val="40000"/>
            </a:schemeClr>
          </a:solidFill>
        </p:spPr>
        <p:txBody>
          <a:bodyPr lIns="457200" tIns="365760" rIns="45720" bIns="4572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10600" y="4960138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16CA0-919D-4A49-9C8A-62FDFB3A5183}" type="datetimeFigureOut">
              <a:rPr lang="en-US" dirty="0"/>
              <a:t>1/24/2024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E5644-1E61-4311-A31E-84CB9C7AA8A9}" type="slidenum">
              <a:rPr lang="en-US" dirty="0"/>
              <a:t>‹Nº›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73815-2707-4475-8F1A-B873CB631BB4}" type="datetimeFigureOut">
              <a:rPr lang="en-US" dirty="0"/>
              <a:t>1/24/2024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762000"/>
            <a:ext cx="2628900" cy="5410200"/>
          </a:xfrm>
        </p:spPr>
        <p:txBody>
          <a:bodyPr vert="eaVert" lIns="45720" tIns="91440" rIns="45720" bIns="91440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90601" y="762000"/>
            <a:ext cx="7581900" cy="5410200"/>
          </a:xfrm>
        </p:spPr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4AFB99-0EAB-4182-AFF8-E214C82A68F6}" type="datetimeFigureOut">
              <a:rPr lang="en-US" dirty="0"/>
              <a:t>1/24/2024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‹Nº›</a:t>
            </a:fld>
            <a:endParaRPr lang="en-US" dirty="0"/>
          </a:p>
        </p:txBody>
      </p:sp>
      <p:cxnSp>
        <p:nvCxnSpPr>
          <p:cNvPr id="7" name="Straight Connector 6"/>
          <p:cNvCxnSpPr/>
          <p:nvPr/>
        </p:nvCxnSpPr>
        <p:spPr>
          <a:xfrm rot="5400000" flipV="1">
            <a:off x="10058400" y="59263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286000"/>
            <a:ext cx="9720073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24129" y="6470704"/>
            <a:ext cx="2154143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90298CD5-6C1E-4009-B41F-6DF62E31D3BE}" type="datetimeFigureOut">
              <a:rPr lang="en-US" dirty="0"/>
              <a:pPr/>
              <a:t>1/24/2024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842932" y="6470704"/>
            <a:ext cx="5901459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837333" y="6470704"/>
            <a:ext cx="973667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dirty="0"/>
              <a:pPr/>
              <a:t>‹Nº›</a:t>
            </a:fld>
            <a:endParaRPr lang="en-US" dirty="0"/>
          </a:p>
        </p:txBody>
      </p:sp>
      <p:cxnSp>
        <p:nvCxnSpPr>
          <p:cNvPr id="7" name="Straight Connector 6"/>
          <p:cNvCxnSpPr/>
          <p:nvPr/>
        </p:nvCxnSpPr>
        <p:spPr>
          <a:xfrm flipV="1">
            <a:off x="762000" y="826324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0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5000" kern="1200" cap="all" spc="100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Tw Cen MT" panose="020B0602020104020603" pitchFamily="34" charset="0"/>
        <a:buChar char=" 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26517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4480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7724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tolearnenglish.com/exercises/exercise-english-2/exercise-english-82380.php" TargetMode="External"/><Relationship Id="rId2" Type="http://schemas.openxmlformats.org/officeDocument/2006/relationships/hyperlink" Target="https://www.englisch-hilfen.de/en/exercises/modals/must_not.htm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elt.oup.com/student/result/engint/a_grammar/unit01/1b_1?cc=ro&amp;selLanguage=en" TargetMode="External"/><Relationship Id="rId4" Type="http://schemas.openxmlformats.org/officeDocument/2006/relationships/hyperlink" Target="https://elt.oup.com/student/solutions/elementary/grammar/grammar_05_022e?cc=ro&amp;selLanguage=en" TargetMode="Externa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559558" y="4960137"/>
            <a:ext cx="7847462" cy="1463040"/>
          </a:xfrm>
        </p:spPr>
        <p:txBody>
          <a:bodyPr>
            <a:normAutofit fontScale="90000"/>
          </a:bodyPr>
          <a:lstStyle/>
          <a:p>
            <a:r>
              <a:rPr lang="es-ES" dirty="0"/>
              <a:t>Module 7 - Modal VERBS  + REFLEXIVE PRONOUNS +  HAD BETTER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s-ES" dirty="0"/>
              <a:t>Caterina </a:t>
            </a:r>
            <a:r>
              <a:rPr lang="es-ES" dirty="0" err="1"/>
              <a:t>Ines</a:t>
            </a:r>
            <a:r>
              <a:rPr lang="es-ES" dirty="0"/>
              <a:t> </a:t>
            </a:r>
            <a:r>
              <a:rPr lang="es-ES" dirty="0" err="1"/>
              <a:t>Latella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2394892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INDEX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746975" y="2286000"/>
            <a:ext cx="10895525" cy="4023360"/>
          </a:xfrm>
        </p:spPr>
        <p:txBody>
          <a:bodyPr>
            <a:normAutofit/>
          </a:bodyPr>
          <a:lstStyle/>
          <a:p>
            <a:endParaRPr lang="es-ES" sz="3200" dirty="0">
              <a:solidFill>
                <a:srgbClr val="FF0000"/>
              </a:solidFill>
            </a:endParaRPr>
          </a:p>
          <a:p>
            <a:r>
              <a:rPr lang="es-ES" sz="3200" dirty="0">
                <a:solidFill>
                  <a:srgbClr val="FF0000"/>
                </a:solidFill>
              </a:rPr>
              <a:t>- MODAL VERBS</a:t>
            </a:r>
          </a:p>
          <a:p>
            <a:r>
              <a:rPr lang="es-ES" sz="3200" dirty="0">
                <a:solidFill>
                  <a:srgbClr val="FF0000"/>
                </a:solidFill>
              </a:rPr>
              <a:t>- REFLEXIVE PRONOUNS </a:t>
            </a:r>
          </a:p>
          <a:p>
            <a:r>
              <a:rPr lang="es-ES" sz="3200" dirty="0">
                <a:solidFill>
                  <a:srgbClr val="FF0000"/>
                </a:solidFill>
              </a:rPr>
              <a:t>- HAD BETTER</a:t>
            </a:r>
          </a:p>
          <a:p>
            <a:endParaRPr lang="es-ES" sz="3200" dirty="0">
              <a:solidFill>
                <a:srgbClr val="FF0000"/>
              </a:solidFill>
            </a:endParaRPr>
          </a:p>
          <a:p>
            <a:endParaRPr lang="es-ES" dirty="0">
              <a:solidFill>
                <a:srgbClr val="FF0000"/>
              </a:solidFill>
            </a:endParaRPr>
          </a:p>
          <a:p>
            <a:endParaRPr lang="es-ES" dirty="0">
              <a:solidFill>
                <a:srgbClr val="FF0000"/>
              </a:solidFill>
            </a:endParaRPr>
          </a:p>
          <a:p>
            <a:endParaRPr lang="es-ES" dirty="0"/>
          </a:p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7437127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09685" y="571568"/>
            <a:ext cx="6073254" cy="1499616"/>
          </a:xfrm>
        </p:spPr>
        <p:txBody>
          <a:bodyPr/>
          <a:lstStyle/>
          <a:p>
            <a:r>
              <a:rPr lang="es-ES" dirty="0"/>
              <a:t>GIVING </a:t>
            </a:r>
            <a:r>
              <a:rPr lang="es-ES" dirty="0">
                <a:solidFill>
                  <a:srgbClr val="FF0000"/>
                </a:solidFill>
              </a:rPr>
              <a:t>ADVICE</a:t>
            </a:r>
            <a:r>
              <a:rPr lang="es-ES" dirty="0"/>
              <a:t>/</a:t>
            </a:r>
            <a:r>
              <a:rPr lang="es-ES" dirty="0">
                <a:solidFill>
                  <a:srgbClr val="FF0000"/>
                </a:solidFill>
              </a:rPr>
              <a:t>SUGGESTIONS</a:t>
            </a:r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1024128" y="1719618"/>
            <a:ext cx="9720073" cy="4589742"/>
          </a:xfrm>
        </p:spPr>
        <p:txBody>
          <a:bodyPr/>
          <a:lstStyle/>
          <a:p>
            <a:endParaRPr lang="en-US" dirty="0"/>
          </a:p>
          <a:p>
            <a:endParaRPr lang="en-US" dirty="0"/>
          </a:p>
          <a:p>
            <a:r>
              <a:rPr lang="en-US" dirty="0"/>
              <a:t>We use </a:t>
            </a:r>
            <a:r>
              <a:rPr lang="en-US" b="1" dirty="0">
                <a:solidFill>
                  <a:srgbClr val="FF0000"/>
                </a:solidFill>
              </a:rPr>
              <a:t>should</a:t>
            </a:r>
            <a:r>
              <a:rPr lang="en-US" dirty="0"/>
              <a:t> for: </a:t>
            </a:r>
          </a:p>
          <a:p>
            <a:r>
              <a:rPr lang="en-US" dirty="0"/>
              <a:t>• Polite </a:t>
            </a:r>
            <a:r>
              <a:rPr lang="en-US" dirty="0">
                <a:solidFill>
                  <a:srgbClr val="FF0000"/>
                </a:solidFill>
              </a:rPr>
              <a:t>suggestions</a:t>
            </a:r>
            <a:r>
              <a:rPr lang="en-US" dirty="0"/>
              <a:t> or offers of help </a:t>
            </a:r>
          </a:p>
          <a:p>
            <a:r>
              <a:rPr lang="en-US" dirty="0"/>
              <a:t>     		</a:t>
            </a:r>
            <a:r>
              <a:rPr lang="en-US" i="1" dirty="0"/>
              <a:t>“Should I make a list for you?” </a:t>
            </a:r>
          </a:p>
          <a:p>
            <a:r>
              <a:rPr lang="en-US" dirty="0"/>
              <a:t>• Giving </a:t>
            </a:r>
            <a:r>
              <a:rPr lang="en-US" dirty="0">
                <a:solidFill>
                  <a:srgbClr val="FF0000"/>
                </a:solidFill>
              </a:rPr>
              <a:t>advice</a:t>
            </a:r>
            <a:r>
              <a:rPr lang="en-US" dirty="0"/>
              <a:t> </a:t>
            </a:r>
          </a:p>
          <a:p>
            <a:pPr marL="128016" lvl="1" indent="0">
              <a:buNone/>
            </a:pPr>
            <a:r>
              <a:rPr lang="en-US" dirty="0"/>
              <a:t>                      	</a:t>
            </a:r>
            <a:r>
              <a:rPr lang="en-US" sz="2200" i="1" dirty="0"/>
              <a:t>“When you travel you should pack lightly”</a:t>
            </a:r>
          </a:p>
          <a:p>
            <a:r>
              <a:rPr lang="en-US" dirty="0"/>
              <a:t>• </a:t>
            </a:r>
            <a:r>
              <a:rPr lang="en-US" dirty="0">
                <a:solidFill>
                  <a:srgbClr val="FF0000"/>
                </a:solidFill>
              </a:rPr>
              <a:t>Predictions</a:t>
            </a:r>
            <a:r>
              <a:rPr lang="en-US" dirty="0"/>
              <a:t> or expectations that something will happen </a:t>
            </a:r>
          </a:p>
          <a:p>
            <a:pPr marL="128016" lvl="1" indent="0">
              <a:buNone/>
            </a:pPr>
            <a:r>
              <a:rPr lang="en-US" dirty="0"/>
              <a:t>		</a:t>
            </a:r>
            <a:r>
              <a:rPr lang="en-US" sz="2200" i="1" dirty="0"/>
              <a:t>“The director should be here in a minute”</a:t>
            </a:r>
            <a:endParaRPr lang="ca-ES" sz="2200" i="1" dirty="0"/>
          </a:p>
        </p:txBody>
      </p:sp>
      <p:pic>
        <p:nvPicPr>
          <p:cNvPr id="1026" name="Picture 2" descr="Resultado de imagen de should shouldn't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03003" y="204968"/>
            <a:ext cx="5311576" cy="36846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041038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err="1"/>
              <a:t>practice</a:t>
            </a:r>
            <a:endParaRPr lang="ca-ES" dirty="0"/>
          </a:p>
        </p:txBody>
      </p:sp>
      <p:pic>
        <p:nvPicPr>
          <p:cNvPr id="2050" name="Picture 2" descr="Resultado de imagen de should shouldn't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71691" y="57776"/>
            <a:ext cx="9057497" cy="68002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1 Rectángulo"/>
          <p:cNvSpPr/>
          <p:nvPr/>
        </p:nvSpPr>
        <p:spPr>
          <a:xfrm>
            <a:off x="5404513" y="1023582"/>
            <a:ext cx="6100550" cy="53226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a-ES"/>
          </a:p>
        </p:txBody>
      </p:sp>
    </p:spTree>
    <p:extLst>
      <p:ext uri="{BB962C8B-B14F-4D97-AF65-F5344CB8AC3E}">
        <p14:creationId xmlns:p14="http://schemas.microsoft.com/office/powerpoint/2010/main" val="38590900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MUST </a:t>
            </a:r>
            <a:r>
              <a:rPr lang="es-ES" dirty="0">
                <a:solidFill>
                  <a:schemeClr val="accent1">
                    <a:lumMod val="75000"/>
                  </a:schemeClr>
                </a:solidFill>
              </a:rPr>
              <a:t>/</a:t>
            </a:r>
            <a:r>
              <a:rPr lang="ca-ES" dirty="0" err="1">
                <a:solidFill>
                  <a:schemeClr val="accent1">
                    <a:lumMod val="75000"/>
                  </a:schemeClr>
                </a:solidFill>
              </a:rPr>
              <a:t>mʌst</a:t>
            </a:r>
            <a:r>
              <a:rPr lang="ca-ES" dirty="0">
                <a:solidFill>
                  <a:schemeClr val="accent1">
                    <a:lumMod val="75000"/>
                  </a:schemeClr>
                </a:solidFill>
              </a:rPr>
              <a:t>/</a:t>
            </a:r>
            <a:r>
              <a:rPr lang="es-ES" dirty="0"/>
              <a:t>              -       MUSTN’T </a:t>
            </a:r>
            <a:r>
              <a:rPr lang="es-ES" dirty="0">
                <a:solidFill>
                  <a:schemeClr val="accent1">
                    <a:lumMod val="75000"/>
                  </a:schemeClr>
                </a:solidFill>
              </a:rPr>
              <a:t>/</a:t>
            </a:r>
            <a:r>
              <a:rPr lang="ca-ES" dirty="0" err="1">
                <a:solidFill>
                  <a:schemeClr val="accent1">
                    <a:lumMod val="75000"/>
                  </a:schemeClr>
                </a:solidFill>
              </a:rPr>
              <a:t>m</a:t>
            </a:r>
            <a:r>
              <a:rPr lang="ca-ES" sz="4000" dirty="0" err="1">
                <a:solidFill>
                  <a:schemeClr val="accent1">
                    <a:lumMod val="75000"/>
                  </a:schemeClr>
                </a:solidFill>
              </a:rPr>
              <a:t>ʌ</a:t>
            </a:r>
            <a:r>
              <a:rPr lang="ca-ES" dirty="0" err="1">
                <a:solidFill>
                  <a:schemeClr val="accent1">
                    <a:lumMod val="75000"/>
                  </a:schemeClr>
                </a:solidFill>
              </a:rPr>
              <a:t>s</a:t>
            </a:r>
            <a:r>
              <a:rPr lang="ca-ES" baseline="30000" dirty="0" err="1">
                <a:solidFill>
                  <a:schemeClr val="accent1">
                    <a:lumMod val="75000"/>
                  </a:schemeClr>
                </a:solidFill>
              </a:rPr>
              <a:t>ə</a:t>
            </a:r>
            <a:r>
              <a:rPr lang="ca-ES" dirty="0" err="1">
                <a:solidFill>
                  <a:schemeClr val="accent1">
                    <a:lumMod val="75000"/>
                  </a:schemeClr>
                </a:solidFill>
              </a:rPr>
              <a:t>nt</a:t>
            </a:r>
            <a:r>
              <a:rPr lang="ca-ES" dirty="0">
                <a:solidFill>
                  <a:schemeClr val="accent1">
                    <a:lumMod val="75000"/>
                  </a:schemeClr>
                </a:solidFill>
              </a:rPr>
              <a:t>/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idx="1"/>
          </p:nvPr>
        </p:nvSpPr>
        <p:spPr>
          <a:xfrm>
            <a:off x="859809" y="1776885"/>
            <a:ext cx="9884392" cy="4776717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sz="3200" dirty="0"/>
              <a:t>We use </a:t>
            </a:r>
            <a:r>
              <a:rPr lang="en-US" sz="3200" b="1" dirty="0">
                <a:solidFill>
                  <a:srgbClr val="FF0000"/>
                </a:solidFill>
              </a:rPr>
              <a:t>MUST </a:t>
            </a:r>
            <a:r>
              <a:rPr lang="en-US" sz="3200" dirty="0"/>
              <a:t>for: </a:t>
            </a:r>
          </a:p>
          <a:p>
            <a:pPr marL="0" indent="0">
              <a:buNone/>
            </a:pPr>
            <a:r>
              <a:rPr lang="en-US" sz="3200" dirty="0"/>
              <a:t>• </a:t>
            </a:r>
            <a:r>
              <a:rPr lang="en-US" sz="3200" b="1" dirty="0"/>
              <a:t>Obligation and future intention  </a:t>
            </a:r>
            <a:r>
              <a:rPr lang="en-US" sz="3200" dirty="0"/>
              <a:t>		Ex. “I must finish packing soon”</a:t>
            </a:r>
          </a:p>
          <a:p>
            <a:pPr marL="0" indent="0">
              <a:buNone/>
            </a:pPr>
            <a:r>
              <a:rPr lang="en-US" sz="3200" dirty="0"/>
              <a:t>• </a:t>
            </a:r>
            <a:r>
              <a:rPr lang="en-US" sz="3200" b="1" dirty="0"/>
              <a:t>Strong necessity  </a:t>
            </a:r>
            <a:r>
              <a:rPr lang="en-US" sz="3200" dirty="0"/>
              <a:t>				Ex. “He must take his medicine” </a:t>
            </a:r>
          </a:p>
          <a:p>
            <a:pPr marL="0" indent="0">
              <a:buNone/>
            </a:pPr>
            <a:r>
              <a:rPr lang="en-US" sz="3200" dirty="0"/>
              <a:t>• </a:t>
            </a:r>
            <a:r>
              <a:rPr lang="en-US" sz="3200" b="1" dirty="0"/>
              <a:t>Persuading</a:t>
            </a:r>
            <a:r>
              <a:rPr lang="en-US" sz="3200" dirty="0"/>
              <a:t> someone to do something 		Ex. “You must let me do the 								laundry. You’ll be late” </a:t>
            </a:r>
          </a:p>
          <a:p>
            <a:pPr marL="0" indent="0">
              <a:buNone/>
            </a:pPr>
            <a:r>
              <a:rPr lang="en-US" sz="3200" dirty="0"/>
              <a:t>• </a:t>
            </a:r>
            <a:r>
              <a:rPr lang="en-US" sz="3200" b="1" dirty="0"/>
              <a:t>Certainty</a:t>
            </a:r>
            <a:r>
              <a:rPr lang="en-US" sz="3200" dirty="0"/>
              <a:t> because of facts 			Ex. “Jane isn’t here. Her plane must 						be late” </a:t>
            </a:r>
          </a:p>
          <a:p>
            <a:pPr marL="0" indent="0">
              <a:buNone/>
            </a:pPr>
            <a:endParaRPr lang="en-US" sz="3200" dirty="0"/>
          </a:p>
          <a:p>
            <a:pPr marL="0" indent="0">
              <a:buNone/>
            </a:pPr>
            <a:r>
              <a:rPr lang="en-US" sz="3200" dirty="0"/>
              <a:t>We use</a:t>
            </a:r>
            <a:r>
              <a:rPr lang="en-US" sz="3200" b="1" dirty="0">
                <a:solidFill>
                  <a:srgbClr val="FF0000"/>
                </a:solidFill>
              </a:rPr>
              <a:t> MUSTN’T</a:t>
            </a:r>
            <a:r>
              <a:rPr lang="en-US" sz="3200" b="1" dirty="0"/>
              <a:t>:</a:t>
            </a:r>
            <a:r>
              <a:rPr lang="en-US" sz="3200" b="1" dirty="0">
                <a:solidFill>
                  <a:srgbClr val="FF0000"/>
                </a:solidFill>
              </a:rPr>
              <a:t> </a:t>
            </a:r>
          </a:p>
          <a:p>
            <a:pPr marL="0" indent="0">
              <a:buNone/>
            </a:pPr>
            <a:r>
              <a:rPr lang="en-US" sz="3200" dirty="0"/>
              <a:t>• to say that something is </a:t>
            </a:r>
            <a:r>
              <a:rPr lang="en-US" sz="3200" b="1" dirty="0"/>
              <a:t>forbidden or prohibited</a:t>
            </a:r>
            <a:r>
              <a:rPr lang="en-US" sz="3200" dirty="0"/>
              <a:t>. </a:t>
            </a:r>
          </a:p>
          <a:p>
            <a:pPr marL="0" indent="0">
              <a:buNone/>
            </a:pPr>
            <a:r>
              <a:rPr lang="en-US" sz="3200" dirty="0"/>
              <a:t>						</a:t>
            </a:r>
          </a:p>
          <a:p>
            <a:pPr marL="0" indent="0">
              <a:buNone/>
            </a:pPr>
            <a:r>
              <a:rPr lang="en-US" sz="3200" dirty="0"/>
              <a:t>Ex. “You mustn’t put liquids in your carry-on”</a:t>
            </a:r>
            <a:endParaRPr lang="es-ES" sz="2800" u="sng" dirty="0"/>
          </a:p>
        </p:txBody>
      </p:sp>
      <p:sp>
        <p:nvSpPr>
          <p:cNvPr id="2" name="AutoShape 2" descr="Resultado de imagen de forbidden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ca-ES"/>
          </a:p>
        </p:txBody>
      </p:sp>
      <p:sp>
        <p:nvSpPr>
          <p:cNvPr id="5" name="AutoShape 4" descr="Resultado de imagen de forbidden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ca-ES"/>
          </a:p>
        </p:txBody>
      </p:sp>
      <p:sp>
        <p:nvSpPr>
          <p:cNvPr id="6" name="5 Flecha derecha"/>
          <p:cNvSpPr/>
          <p:nvPr/>
        </p:nvSpPr>
        <p:spPr>
          <a:xfrm>
            <a:off x="7062716" y="5042901"/>
            <a:ext cx="1569492" cy="51861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a-ES"/>
          </a:p>
        </p:txBody>
      </p:sp>
      <p:pic>
        <p:nvPicPr>
          <p:cNvPr id="3080" name="Picture 8" descr="Resultado de imagen de forbidden LIQUIDS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44734" y="4054432"/>
            <a:ext cx="2667000" cy="24955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0" name="9 Conector recto de flecha"/>
          <p:cNvCxnSpPr/>
          <p:nvPr/>
        </p:nvCxnSpPr>
        <p:spPr>
          <a:xfrm>
            <a:off x="5145206" y="2320120"/>
            <a:ext cx="1187355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13 Conector recto de flecha"/>
          <p:cNvCxnSpPr/>
          <p:nvPr/>
        </p:nvCxnSpPr>
        <p:spPr>
          <a:xfrm>
            <a:off x="5145206" y="2756848"/>
            <a:ext cx="1187355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14 Conector recto de flecha"/>
          <p:cNvCxnSpPr/>
          <p:nvPr/>
        </p:nvCxnSpPr>
        <p:spPr>
          <a:xfrm>
            <a:off x="5152029" y="3821374"/>
            <a:ext cx="1187355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11 Conector recto de flecha"/>
          <p:cNvCxnSpPr/>
          <p:nvPr/>
        </p:nvCxnSpPr>
        <p:spPr>
          <a:xfrm>
            <a:off x="5595582" y="3207224"/>
            <a:ext cx="736979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750603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a-ES" dirty="0">
                <a:solidFill>
                  <a:srgbClr val="FF0000"/>
                </a:solidFill>
              </a:rPr>
              <a:t>CAN /CAN’T</a:t>
            </a:r>
            <a:r>
              <a:rPr lang="ca-ES" dirty="0"/>
              <a:t>+ INFINITVE</a:t>
            </a:r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We use can for: </a:t>
            </a:r>
          </a:p>
          <a:p>
            <a:r>
              <a:rPr lang="en-US" dirty="0"/>
              <a:t>• Ability 				“I can speak 3 foreign languages” </a:t>
            </a:r>
          </a:p>
          <a:p>
            <a:r>
              <a:rPr lang="en-US" dirty="0"/>
              <a:t>• Possibility 				“You can’t come tomorrow, I have to work” </a:t>
            </a:r>
          </a:p>
          <a:p>
            <a:r>
              <a:rPr lang="en-US" dirty="0"/>
              <a:t>• Requests or asking for permission 	“Can I use your computer?” </a:t>
            </a:r>
          </a:p>
          <a:p>
            <a:r>
              <a:rPr lang="en-US" dirty="0"/>
              <a:t>• Offers of help 			“How can I help you?” </a:t>
            </a:r>
          </a:p>
          <a:p>
            <a:r>
              <a:rPr lang="en-US" dirty="0"/>
              <a:t>• Giving permission 			“You can use my dishes”</a:t>
            </a:r>
            <a:endParaRPr lang="ca-ES" dirty="0"/>
          </a:p>
        </p:txBody>
      </p:sp>
    </p:spTree>
    <p:extLst>
      <p:ext uri="{BB962C8B-B14F-4D97-AF65-F5344CB8AC3E}">
        <p14:creationId xmlns:p14="http://schemas.microsoft.com/office/powerpoint/2010/main" val="35833064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a-ES" dirty="0">
                <a:solidFill>
                  <a:srgbClr val="FF0000"/>
                </a:solidFill>
              </a:rPr>
              <a:t>PRACTICE</a:t>
            </a:r>
            <a:endParaRPr lang="ca-ES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6098" y="1770198"/>
            <a:ext cx="4400848" cy="49887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39988" y="1833618"/>
            <a:ext cx="4117576" cy="48619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100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57564" y="107641"/>
            <a:ext cx="3519361" cy="66513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5726351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219504" y="455322"/>
            <a:ext cx="9720072" cy="1499616"/>
          </a:xfrm>
        </p:spPr>
        <p:txBody>
          <a:bodyPr/>
          <a:lstStyle/>
          <a:p>
            <a:r>
              <a:rPr lang="es-ES" dirty="0"/>
              <a:t>REFLEXIVE PRONOUNS</a:t>
            </a:r>
            <a:endParaRPr lang="ca-ES" dirty="0"/>
          </a:p>
        </p:txBody>
      </p:sp>
      <p:sp>
        <p:nvSpPr>
          <p:cNvPr id="10" name="9 Rectángulo"/>
          <p:cNvSpPr/>
          <p:nvPr/>
        </p:nvSpPr>
        <p:spPr>
          <a:xfrm>
            <a:off x="10131379" y="3480176"/>
            <a:ext cx="1768699" cy="37348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a-ES"/>
          </a:p>
        </p:txBody>
      </p:sp>
      <p:pic>
        <p:nvPicPr>
          <p:cNvPr id="1026" name="Picture 2" descr="Reflexive pronouns · Ejercicio de inglés (gramática, nivel intermedio) |  bitgab">
            <a:extLst>
              <a:ext uri="{FF2B5EF4-FFF2-40B4-BE49-F238E27FC236}">
                <a16:creationId xmlns:a16="http://schemas.microsoft.com/office/drawing/2014/main" id="{BFA470A5-1FD8-436C-CF91-2AAA94CE219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" y="1874488"/>
            <a:ext cx="7037070" cy="39583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4924761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219504" y="455322"/>
            <a:ext cx="9720072" cy="1499616"/>
          </a:xfrm>
        </p:spPr>
        <p:txBody>
          <a:bodyPr/>
          <a:lstStyle/>
          <a:p>
            <a:r>
              <a:rPr lang="es-ES" dirty="0"/>
              <a:t>REFLEXIVE PRONOUNS</a:t>
            </a:r>
            <a:endParaRPr lang="ca-ES" dirty="0"/>
          </a:p>
        </p:txBody>
      </p:sp>
      <p:sp>
        <p:nvSpPr>
          <p:cNvPr id="10" name="9 Rectángulo"/>
          <p:cNvSpPr/>
          <p:nvPr/>
        </p:nvSpPr>
        <p:spPr>
          <a:xfrm>
            <a:off x="10131379" y="3480176"/>
            <a:ext cx="1768699" cy="37348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a-ES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6319843F-126E-59E7-1A14-E6E3F768A8C3}"/>
              </a:ext>
            </a:extLst>
          </p:cNvPr>
          <p:cNvSpPr txBox="1"/>
          <p:nvPr/>
        </p:nvSpPr>
        <p:spPr>
          <a:xfrm>
            <a:off x="742950" y="1508760"/>
            <a:ext cx="10196626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We use reflexive pronouns:</a:t>
            </a:r>
          </a:p>
          <a:p>
            <a:endParaRPr lang="en-US" dirty="0"/>
          </a:p>
          <a:p>
            <a:r>
              <a:rPr lang="en-US" dirty="0"/>
              <a:t>– when the object and subject of a sentence are the same. </a:t>
            </a:r>
          </a:p>
          <a:p>
            <a:r>
              <a:rPr lang="en-US" dirty="0"/>
              <a:t>                 </a:t>
            </a:r>
            <a:r>
              <a:rPr lang="en-US" i="1" dirty="0"/>
              <a:t>He taught himself how to cook. </a:t>
            </a:r>
          </a:p>
          <a:p>
            <a:r>
              <a:rPr lang="en-US" dirty="0"/>
              <a:t>– to emphasize the subject. </a:t>
            </a:r>
          </a:p>
          <a:p>
            <a:r>
              <a:rPr lang="en-US" dirty="0"/>
              <a:t>               </a:t>
            </a:r>
            <a:r>
              <a:rPr lang="en-US" i="1" dirty="0"/>
              <a:t>I carried the suitcases myself. </a:t>
            </a:r>
            <a:r>
              <a:rPr lang="en-US" dirty="0"/>
              <a:t>(I carried them, and not someone else.) </a:t>
            </a:r>
          </a:p>
          <a:p>
            <a:endParaRPr lang="en-US" dirty="0"/>
          </a:p>
          <a:p>
            <a:r>
              <a:rPr lang="en-US" dirty="0"/>
              <a:t>• We use by + a reflexive pronoun to talk about something the subjects did alone. </a:t>
            </a:r>
          </a:p>
          <a:p>
            <a:r>
              <a:rPr lang="en-US" dirty="0"/>
              <a:t>             </a:t>
            </a:r>
            <a:r>
              <a:rPr lang="en-US" i="1" dirty="0"/>
              <a:t>They fixed the car by themselves. </a:t>
            </a:r>
            <a:r>
              <a:rPr lang="en-US" dirty="0"/>
              <a:t>(No one helped them)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18281157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219504" y="455322"/>
            <a:ext cx="9720072" cy="1499616"/>
          </a:xfrm>
        </p:spPr>
        <p:txBody>
          <a:bodyPr/>
          <a:lstStyle/>
          <a:p>
            <a:r>
              <a:rPr lang="es-ES" dirty="0"/>
              <a:t>REFLEXIVE PRONOUNS</a:t>
            </a:r>
            <a:endParaRPr lang="ca-ES" dirty="0"/>
          </a:p>
        </p:txBody>
      </p:sp>
      <p:sp>
        <p:nvSpPr>
          <p:cNvPr id="10" name="9 Rectángulo"/>
          <p:cNvSpPr/>
          <p:nvPr/>
        </p:nvSpPr>
        <p:spPr>
          <a:xfrm>
            <a:off x="10131379" y="3480176"/>
            <a:ext cx="1768699" cy="37348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a-ES"/>
          </a:p>
        </p:txBody>
      </p:sp>
      <p:pic>
        <p:nvPicPr>
          <p:cNvPr id="2050" name="Picture 2" descr="Reflexive Pronouns | Promova Grammar">
            <a:extLst>
              <a:ext uri="{FF2B5EF4-FFF2-40B4-BE49-F238E27FC236}">
                <a16:creationId xmlns:a16="http://schemas.microsoft.com/office/drawing/2014/main" id="{6CA7ED92-0409-44AD-E896-1D46DDEEA3F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2500" y="0"/>
            <a:ext cx="10287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6360117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219504" y="455322"/>
            <a:ext cx="9720072" cy="1499616"/>
          </a:xfrm>
        </p:spPr>
        <p:txBody>
          <a:bodyPr/>
          <a:lstStyle/>
          <a:p>
            <a:r>
              <a:rPr lang="es-ES" dirty="0"/>
              <a:t>HAD BETTER</a:t>
            </a:r>
            <a:endParaRPr lang="ca-ES" dirty="0"/>
          </a:p>
        </p:txBody>
      </p:sp>
      <p:sp>
        <p:nvSpPr>
          <p:cNvPr id="10" name="9 Rectángulo"/>
          <p:cNvSpPr/>
          <p:nvPr/>
        </p:nvSpPr>
        <p:spPr>
          <a:xfrm>
            <a:off x="10131379" y="3480176"/>
            <a:ext cx="1768699" cy="37348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a-ES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7FAAC821-DAAD-22F3-5B43-4B7199989CB5}"/>
              </a:ext>
            </a:extLst>
          </p:cNvPr>
          <p:cNvSpPr txBox="1"/>
          <p:nvPr/>
        </p:nvSpPr>
        <p:spPr>
          <a:xfrm>
            <a:off x="205740" y="1508760"/>
            <a:ext cx="11214087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/>
              <a:t>We use </a:t>
            </a:r>
            <a:r>
              <a:rPr lang="en-US" sz="2400" b="1" dirty="0">
                <a:solidFill>
                  <a:srgbClr val="FF0000"/>
                </a:solidFill>
              </a:rPr>
              <a:t>had better </a:t>
            </a:r>
            <a:r>
              <a:rPr lang="en-US" sz="2400" b="1" dirty="0"/>
              <a:t>for </a:t>
            </a:r>
            <a:r>
              <a:rPr lang="en-US" sz="2400" b="1" u="sng" dirty="0"/>
              <a:t>giving advice or warning</a:t>
            </a:r>
            <a:r>
              <a:rPr lang="en-US" sz="2400" b="1" dirty="0"/>
              <a:t>, or to point out the wise or correct thing to do. </a:t>
            </a:r>
          </a:p>
          <a:p>
            <a:r>
              <a:rPr lang="en-US" sz="2400" dirty="0"/>
              <a:t>            You had better see a doctor. (advice) </a:t>
            </a:r>
          </a:p>
          <a:p>
            <a:r>
              <a:rPr lang="en-US" sz="2400" dirty="0"/>
              <a:t>            She had better not be late. (warning) </a:t>
            </a:r>
          </a:p>
          <a:p>
            <a:r>
              <a:rPr lang="en-US" sz="2400" dirty="0"/>
              <a:t>            We had better get to the airport early. (wise thing to do) </a:t>
            </a:r>
          </a:p>
          <a:p>
            <a:endParaRPr lang="en-US" sz="2400" dirty="0"/>
          </a:p>
          <a:p>
            <a:r>
              <a:rPr lang="en-US" sz="2400" dirty="0"/>
              <a:t>Note: We don’t usually use had better in questions. </a:t>
            </a:r>
          </a:p>
          <a:p>
            <a:endParaRPr lang="en-US" sz="2400" dirty="0"/>
          </a:p>
          <a:p>
            <a:r>
              <a:rPr lang="en-US" sz="2400" dirty="0"/>
              <a:t>Positive    </a:t>
            </a:r>
            <a:r>
              <a:rPr lang="en-US" sz="2400" dirty="0" err="1"/>
              <a:t>Subjetc</a:t>
            </a:r>
            <a:r>
              <a:rPr lang="en-US" sz="2400" dirty="0"/>
              <a:t> + had (’d) better + base form of the verb. </a:t>
            </a:r>
          </a:p>
          <a:p>
            <a:r>
              <a:rPr lang="en-US" sz="2400" dirty="0"/>
              <a:t>Negative Subject + had (’d) better not + base form of the verb.</a:t>
            </a:r>
            <a:endParaRPr lang="en-GB" sz="2400" dirty="0"/>
          </a:p>
        </p:txBody>
      </p:sp>
    </p:spTree>
    <p:extLst>
      <p:ext uri="{BB962C8B-B14F-4D97-AF65-F5344CB8AC3E}">
        <p14:creationId xmlns:p14="http://schemas.microsoft.com/office/powerpoint/2010/main" val="115524186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219504" y="455322"/>
            <a:ext cx="9720072" cy="1499616"/>
          </a:xfrm>
        </p:spPr>
        <p:txBody>
          <a:bodyPr/>
          <a:lstStyle/>
          <a:p>
            <a:r>
              <a:rPr lang="es-ES" dirty="0"/>
              <a:t>HAD BETTER - </a:t>
            </a:r>
            <a:r>
              <a:rPr lang="es-ES" dirty="0" err="1"/>
              <a:t>exmples</a:t>
            </a:r>
            <a:endParaRPr lang="ca-ES" dirty="0"/>
          </a:p>
        </p:txBody>
      </p:sp>
      <p:sp>
        <p:nvSpPr>
          <p:cNvPr id="10" name="9 Rectángulo"/>
          <p:cNvSpPr/>
          <p:nvPr/>
        </p:nvSpPr>
        <p:spPr>
          <a:xfrm>
            <a:off x="10131379" y="3480176"/>
            <a:ext cx="1768699" cy="37348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a-ES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7FAAC821-DAAD-22F3-5B43-4B7199989CB5}"/>
              </a:ext>
            </a:extLst>
          </p:cNvPr>
          <p:cNvSpPr txBox="1"/>
          <p:nvPr/>
        </p:nvSpPr>
        <p:spPr>
          <a:xfrm>
            <a:off x="571500" y="1457325"/>
            <a:ext cx="11131543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EX. 1 </a:t>
            </a:r>
            <a:r>
              <a:rPr lang="en-US" sz="2400" i="1" dirty="0"/>
              <a:t>I had better buy some shampoo. </a:t>
            </a:r>
            <a:r>
              <a:rPr lang="en-US" sz="2400" dirty="0"/>
              <a:t>(I need to wash my hair. I don’t have any more shampoo, etc.) </a:t>
            </a:r>
          </a:p>
          <a:p>
            <a:r>
              <a:rPr lang="en-US" sz="2400" dirty="0"/>
              <a:t>Ex. 2 </a:t>
            </a:r>
            <a:r>
              <a:rPr lang="en-US" sz="2400" i="1" dirty="0"/>
              <a:t>He had better not be late. </a:t>
            </a:r>
            <a:r>
              <a:rPr lang="en-US" sz="2400" dirty="0"/>
              <a:t>(He has an important meeting. School starts soon, etc.) </a:t>
            </a:r>
          </a:p>
          <a:p>
            <a:r>
              <a:rPr lang="en-US" sz="2400" dirty="0"/>
              <a:t>Ex. 3 </a:t>
            </a:r>
            <a:r>
              <a:rPr lang="en-US" sz="2400" i="1" dirty="0"/>
              <a:t>We had better go shopping for a gift. </a:t>
            </a:r>
            <a:r>
              <a:rPr lang="en-US" sz="2400" dirty="0"/>
              <a:t>(It’s someone’s birthday, etc.)</a:t>
            </a:r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r>
              <a:rPr lang="en-US" sz="2400" b="1" u="sng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Speaking</a:t>
            </a:r>
            <a:r>
              <a:rPr lang="en-US" sz="2400"/>
              <a:t> - </a:t>
            </a:r>
            <a:r>
              <a:rPr lang="en-US" sz="2400" dirty="0"/>
              <a:t>Try to </a:t>
            </a:r>
            <a:r>
              <a:rPr lang="en-US" sz="2400"/>
              <a:t>come up with </a:t>
            </a:r>
            <a:r>
              <a:rPr lang="en-US" sz="2400" dirty="0"/>
              <a:t>situations in which someone might say: </a:t>
            </a:r>
            <a:r>
              <a:rPr lang="en-US" sz="2400" b="1" i="1" dirty="0"/>
              <a:t>had better/had better not </a:t>
            </a:r>
            <a:r>
              <a:rPr lang="en-US" sz="2400" b="1"/>
              <a:t>+</a:t>
            </a:r>
            <a:r>
              <a:rPr lang="en-US" sz="2400" b="1" i="1"/>
              <a:t> infinitive</a:t>
            </a:r>
            <a:endParaRPr lang="en-US" sz="2400" b="1" dirty="0"/>
          </a:p>
          <a:p>
            <a:endParaRPr lang="en-GB" sz="2400" dirty="0"/>
          </a:p>
        </p:txBody>
      </p:sp>
      <p:pic>
        <p:nvPicPr>
          <p:cNvPr id="3074" name="Picture 2" descr="Speaking Curso de Inglés: Promociones EL PAÍS">
            <a:extLst>
              <a:ext uri="{FF2B5EF4-FFF2-40B4-BE49-F238E27FC236}">
                <a16:creationId xmlns:a16="http://schemas.microsoft.com/office/drawing/2014/main" id="{5DCDA411-43E7-0B18-EDEA-C25A5C5FAD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1500" y="2982564"/>
            <a:ext cx="2866832" cy="19204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5126687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err="1"/>
              <a:t>Keep</a:t>
            </a:r>
            <a:r>
              <a:rPr lang="es-ES" dirty="0"/>
              <a:t> </a:t>
            </a:r>
            <a:r>
              <a:rPr lang="es-ES" dirty="0" err="1"/>
              <a:t>practicing</a:t>
            </a:r>
            <a:endParaRPr lang="ca-ES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373487" y="2208727"/>
            <a:ext cx="10934163" cy="4023360"/>
          </a:xfrm>
        </p:spPr>
        <p:txBody>
          <a:bodyPr>
            <a:normAutofit/>
          </a:bodyPr>
          <a:lstStyle/>
          <a:p>
            <a:endParaRPr lang="es-ES" dirty="0"/>
          </a:p>
          <a:p>
            <a:pPr marL="0" indent="0">
              <a:buNone/>
            </a:pPr>
            <a:endParaRPr lang="es-ES" sz="2400" b="1" dirty="0">
              <a:solidFill>
                <a:srgbClr val="FF0000"/>
              </a:solidFill>
            </a:endParaRPr>
          </a:p>
          <a:p>
            <a:pPr>
              <a:buFont typeface="Wingdings" panose="05000000000000000000" pitchFamily="2" charset="2"/>
              <a:buChar char="v"/>
            </a:pPr>
            <a:endParaRPr lang="es-ES" sz="2400" b="1" dirty="0">
              <a:solidFill>
                <a:srgbClr val="FF0000"/>
              </a:solidFill>
            </a:endParaRPr>
          </a:p>
          <a:p>
            <a:pPr marL="0" indent="0">
              <a:buNone/>
            </a:pPr>
            <a:endParaRPr lang="es-ES" sz="2400" b="1" dirty="0">
              <a:solidFill>
                <a:srgbClr val="FF0000"/>
              </a:solidFill>
            </a:endParaRPr>
          </a:p>
          <a:p>
            <a:endParaRPr lang="es-ES" sz="2400" b="1" dirty="0">
              <a:solidFill>
                <a:srgbClr val="FF0000"/>
              </a:solidFill>
            </a:endParaRPr>
          </a:p>
          <a:p>
            <a:endParaRPr lang="es-ES" sz="2400" b="1" dirty="0">
              <a:solidFill>
                <a:srgbClr val="FF0000"/>
              </a:solidFill>
            </a:endParaRPr>
          </a:p>
        </p:txBody>
      </p:sp>
      <p:sp>
        <p:nvSpPr>
          <p:cNvPr id="10" name="9 Rectángulo"/>
          <p:cNvSpPr/>
          <p:nvPr/>
        </p:nvSpPr>
        <p:spPr>
          <a:xfrm>
            <a:off x="10131379" y="3480176"/>
            <a:ext cx="1768699" cy="37348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a-ES"/>
          </a:p>
        </p:txBody>
      </p:sp>
      <p:sp>
        <p:nvSpPr>
          <p:cNvPr id="4" name="3 CuadroTexto"/>
          <p:cNvSpPr txBox="1"/>
          <p:nvPr/>
        </p:nvSpPr>
        <p:spPr>
          <a:xfrm>
            <a:off x="559558" y="2292824"/>
            <a:ext cx="938966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ca-ES" dirty="0">
                <a:hlinkClick r:id="rId2"/>
              </a:rPr>
              <a:t>https://www.englisch-hilfen.de/en/exercises/modals/must_not.htm</a:t>
            </a:r>
            <a:endParaRPr lang="ca-ES" dirty="0"/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ca-ES" dirty="0">
                <a:hlinkClick r:id="rId3"/>
              </a:rPr>
              <a:t>https://www.tolearnenglish.com/exercises/exercise-english-2/exercise-english-82380.php</a:t>
            </a:r>
            <a:endParaRPr lang="ca-ES" dirty="0"/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ca-ES" dirty="0">
                <a:hlinkClick r:id="rId4"/>
              </a:rPr>
              <a:t>https://elt.oup.com/student/solutions/elementary/grammar/grammar_05_022e?cc=ro&amp;selLanguage=en</a:t>
            </a:r>
            <a:endParaRPr lang="ca-ES" dirty="0"/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ca-ES" dirty="0">
                <a:hlinkClick r:id="rId5"/>
              </a:rPr>
              <a:t>https://elt.oup.com/student/result/engint/a_grammar/unit01/1b_1?cc=ro&amp;selLanguage=en</a:t>
            </a:r>
            <a:endParaRPr lang="ca-ES" dirty="0"/>
          </a:p>
          <a:p>
            <a:pPr marL="285750" indent="-285750">
              <a:buFont typeface="Wingdings" panose="05000000000000000000" pitchFamily="2" charset="2"/>
              <a:buChar char="v"/>
            </a:pPr>
            <a:endParaRPr lang="ca-ES" dirty="0"/>
          </a:p>
        </p:txBody>
      </p:sp>
    </p:spTree>
    <p:extLst>
      <p:ext uri="{BB962C8B-B14F-4D97-AF65-F5344CB8AC3E}">
        <p14:creationId xmlns:p14="http://schemas.microsoft.com/office/powerpoint/2010/main" val="212306399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THANK YOU FOR YOUR </a:t>
            </a:r>
            <a:r>
              <a:rPr lang="es-ES" dirty="0" err="1"/>
              <a:t>attention</a:t>
            </a:r>
            <a:endParaRPr lang="ca-ES" dirty="0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ca-ES" dirty="0"/>
          </a:p>
        </p:txBody>
      </p:sp>
      <p:pic>
        <p:nvPicPr>
          <p:cNvPr id="1026" name="Picture 2" descr="Resultado de imagen de goodbye"/>
          <p:cNvPicPr>
            <a:picLocks noGrp="1" noChangeAspect="1" noChangeArrowheads="1"/>
          </p:cNvPicPr>
          <p:nvPr>
            <p:ph type="pic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015" b="3015"/>
          <a:stretch>
            <a:fillRect/>
          </a:stretch>
        </p:blipFill>
        <p:spPr bwMode="auto"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9435471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ntegral">
  <a:themeElements>
    <a:clrScheme name="Integral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B9F25"/>
      </a:hlink>
      <a:folHlink>
        <a:srgbClr val="B26B02"/>
      </a:folHlink>
    </a:clrScheme>
    <a:fontScheme name="Integral">
      <a:majorFont>
        <a:latin typeface="Tw Cen MT Condensed" panose="020B06060201040202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gral" id="{3577F8C9-A904-41D8-97D2-FD898F53F20E}" vid="{682D6EBE-8D36-4FF2-9DB3-F3D8D7B6715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Integral</Template>
  <TotalTime>846</TotalTime>
  <Words>687</Words>
  <Application>Microsoft Office PowerPoint</Application>
  <PresentationFormat>Panorámica</PresentationFormat>
  <Paragraphs>82</Paragraphs>
  <Slides>14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14</vt:i4>
      </vt:variant>
    </vt:vector>
  </HeadingPairs>
  <TitlesOfParts>
    <vt:vector size="20" baseType="lpstr">
      <vt:lpstr>Arial</vt:lpstr>
      <vt:lpstr>Tw Cen MT</vt:lpstr>
      <vt:lpstr>Tw Cen MT Condensed</vt:lpstr>
      <vt:lpstr>Wingdings</vt:lpstr>
      <vt:lpstr>Wingdings 3</vt:lpstr>
      <vt:lpstr>Integral</vt:lpstr>
      <vt:lpstr>Module 7 - Modal VERBS  + REFLEXIVE PRONOUNS +  HAD BETTER</vt:lpstr>
      <vt:lpstr>INDEX</vt:lpstr>
      <vt:lpstr>GIVING ADVICE/SUGGESTIONS</vt:lpstr>
      <vt:lpstr>practice</vt:lpstr>
      <vt:lpstr>MUST /mʌst/              -       MUSTN’T /mʌsənt/</vt:lpstr>
      <vt:lpstr>CAN /CAN’T+ INFINITVE</vt:lpstr>
      <vt:lpstr>PRACTICE</vt:lpstr>
      <vt:lpstr>REFLEXIVE PRONOUNS</vt:lpstr>
      <vt:lpstr>REFLEXIVE PRONOUNS</vt:lpstr>
      <vt:lpstr>REFLEXIVE PRONOUNS</vt:lpstr>
      <vt:lpstr>HAD BETTER</vt:lpstr>
      <vt:lpstr>HAD BETTER - exmples</vt:lpstr>
      <vt:lpstr>Keep practicing</vt:lpstr>
      <vt:lpstr>THANK YOU FOR YOUR attention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PAST SIMPLE</dc:title>
  <dc:creator>Caterina Inés Latella</dc:creator>
  <cp:lastModifiedBy>Caterina Inés Latella</cp:lastModifiedBy>
  <cp:revision>65</cp:revision>
  <dcterms:created xsi:type="dcterms:W3CDTF">2018-04-20T06:14:45Z</dcterms:created>
  <dcterms:modified xsi:type="dcterms:W3CDTF">2024-01-24T14:11:50Z</dcterms:modified>
</cp:coreProperties>
</file>