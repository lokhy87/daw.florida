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4" r:id="rId3"/>
    <p:sldId id="257" r:id="rId4"/>
    <p:sldId id="265" r:id="rId5"/>
    <p:sldId id="261" r:id="rId6"/>
    <p:sldId id="275" r:id="rId7"/>
    <p:sldId id="264" r:id="rId8"/>
    <p:sldId id="266" r:id="rId9"/>
    <p:sldId id="271" r:id="rId10"/>
    <p:sldId id="276" r:id="rId11"/>
    <p:sldId id="273" r:id="rId12"/>
    <p:sldId id="279" r:id="rId13"/>
    <p:sldId id="277" r:id="rId14"/>
    <p:sldId id="268" r:id="rId15"/>
    <p:sldId id="278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" y="5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elt.oup.com/student/result/engpreint/a_grammar/unit12/12c_2?cc=global&amp;selLanguage=en" TargetMode="External"/><Relationship Id="rId3" Type="http://schemas.openxmlformats.org/officeDocument/2006/relationships/hyperlink" Target="https://learnenglishteens.britishcouncil.org/grammar/intermediate-grammar/future-forms" TargetMode="External"/><Relationship Id="rId7" Type="http://schemas.openxmlformats.org/officeDocument/2006/relationships/hyperlink" Target="https://elt.oup.com/student/result/engpreint/a_grammar/unit12/12c_1?cc=global&amp;selLanguage=en" TargetMode="External"/><Relationship Id="rId2" Type="http://schemas.openxmlformats.org/officeDocument/2006/relationships/hyperlink" Target="https://www.youtube.com/watch?v=qT5Ul3tMjDA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lt.oup.com/student/englishfile/intermediate/a_grammar/file01/nef_int_grammar01_c01?cc=global&amp;selLanguage=en" TargetMode="External"/><Relationship Id="rId5" Type="http://schemas.openxmlformats.org/officeDocument/2006/relationships/hyperlink" Target="https://elt.oup.com/student/englishfile/intermediate/a_grammar/file01/nef_int_grammar01_c02?cc=global&amp;selLanguage=en" TargetMode="External"/><Relationship Id="rId4" Type="http://schemas.openxmlformats.org/officeDocument/2006/relationships/hyperlink" Target="https://learnenglish.britishcouncil.org/english-grammar-reference/talking-about-futur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FUTURE FORMS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Caterina </a:t>
            </a:r>
            <a:r>
              <a:rPr lang="es-ES" dirty="0" err="1"/>
              <a:t>Ines</a:t>
            </a:r>
            <a:r>
              <a:rPr lang="es-ES" dirty="0"/>
              <a:t> </a:t>
            </a:r>
            <a:r>
              <a:rPr lang="es-ES" dirty="0" err="1"/>
              <a:t>Latella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948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INDEX</a:t>
            </a:r>
            <a:endParaRPr lang="ca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828799" y="2150771"/>
            <a:ext cx="844854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dirty="0"/>
              <a:t>FUTURE TIME EXPRESSIONS</a:t>
            </a:r>
          </a:p>
          <a:p>
            <a:endParaRPr lang="es-ES" sz="28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FF0000"/>
                </a:solidFill>
              </a:rPr>
              <a:t>BE GOING TO + INFINTIVE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8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dirty="0"/>
              <a:t>PRESENT CONTINUOUS (</a:t>
            </a:r>
            <a:r>
              <a:rPr lang="es-ES" sz="2800" dirty="0" err="1"/>
              <a:t>with</a:t>
            </a:r>
            <a:r>
              <a:rPr lang="es-ES" sz="2800" dirty="0"/>
              <a:t> </a:t>
            </a:r>
            <a:r>
              <a:rPr lang="es-ES" sz="2800" dirty="0" err="1"/>
              <a:t>future</a:t>
            </a:r>
            <a:r>
              <a:rPr lang="es-ES" sz="2800" dirty="0"/>
              <a:t> </a:t>
            </a:r>
            <a:r>
              <a:rPr lang="es-ES" sz="2800" dirty="0" err="1"/>
              <a:t>meaning</a:t>
            </a:r>
            <a:r>
              <a:rPr lang="es-ES" sz="28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FF0000"/>
                </a:solidFill>
              </a:rPr>
              <a:t>WILL/WON’T + INFINITIVE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8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dirty="0"/>
              <a:t>PRESENT SIMPLE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174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FUTURE TIME EXPRESSIONS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4128" y="1828799"/>
            <a:ext cx="9720073" cy="4700789"/>
          </a:xfrm>
        </p:spPr>
        <p:txBody>
          <a:bodyPr>
            <a:normAutofit/>
          </a:bodyPr>
          <a:lstStyle/>
          <a:p>
            <a:r>
              <a:rPr lang="es-ES" dirty="0"/>
              <a:t>Time </a:t>
            </a:r>
            <a:r>
              <a:rPr lang="es-ES" dirty="0" err="1"/>
              <a:t>expressions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usually</a:t>
            </a:r>
            <a:r>
              <a:rPr lang="es-ES" dirty="0"/>
              <a:t> </a:t>
            </a:r>
            <a:r>
              <a:rPr lang="es-ES" dirty="0" err="1"/>
              <a:t>go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/>
              <a:t>FUTURE FORMS are</a:t>
            </a:r>
            <a:r>
              <a:rPr lang="es-ES" dirty="0"/>
              <a:t>:</a:t>
            </a:r>
            <a:endParaRPr lang="es-ES" dirty="0">
              <a:solidFill>
                <a:srgbClr val="FF0000"/>
              </a:solidFill>
            </a:endParaRPr>
          </a:p>
          <a:p>
            <a:pPr marL="128016" lvl="1" indent="0">
              <a:buNone/>
            </a:pPr>
            <a:endParaRPr lang="es-ES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           </a:t>
            </a:r>
            <a:r>
              <a:rPr lang="es-ES" dirty="0">
                <a:solidFill>
                  <a:srgbClr val="FF0000"/>
                </a:solidFill>
              </a:rPr>
              <a:t>TOMORROW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           NEXT </a:t>
            </a:r>
            <a:r>
              <a:rPr lang="es-ES" dirty="0"/>
              <a:t>+____(</a:t>
            </a:r>
            <a:r>
              <a:rPr lang="es-ES" dirty="0" err="1"/>
              <a:t>week</a:t>
            </a:r>
            <a:r>
              <a:rPr lang="es-ES" dirty="0"/>
              <a:t>/</a:t>
            </a:r>
            <a:r>
              <a:rPr lang="es-ES" dirty="0" err="1"/>
              <a:t>month</a:t>
            </a:r>
            <a:r>
              <a:rPr lang="es-ES" dirty="0"/>
              <a:t>/</a:t>
            </a:r>
            <a:r>
              <a:rPr lang="es-ES" dirty="0" err="1"/>
              <a:t>year</a:t>
            </a:r>
            <a:r>
              <a:rPr lang="es-ES" dirty="0"/>
              <a:t>/</a:t>
            </a:r>
            <a:r>
              <a:rPr lang="es-ES" dirty="0" err="1"/>
              <a:t>summer</a:t>
            </a:r>
            <a:r>
              <a:rPr lang="es-ES" dirty="0"/>
              <a:t>, etc…)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           </a:t>
            </a:r>
            <a:r>
              <a:rPr lang="es-ES" dirty="0">
                <a:solidFill>
                  <a:srgbClr val="FF0000"/>
                </a:solidFill>
              </a:rPr>
              <a:t>IN + </a:t>
            </a:r>
            <a:r>
              <a:rPr lang="es-ES" dirty="0"/>
              <a:t>________ (</a:t>
            </a:r>
            <a:r>
              <a:rPr lang="es-ES" dirty="0" err="1"/>
              <a:t>future</a:t>
            </a:r>
            <a:r>
              <a:rPr lang="es-ES" dirty="0"/>
              <a:t> </a:t>
            </a:r>
            <a:r>
              <a:rPr lang="es-ES" dirty="0" err="1"/>
              <a:t>month</a:t>
            </a:r>
            <a:r>
              <a:rPr lang="es-ES" dirty="0"/>
              <a:t>/</a:t>
            </a:r>
            <a:r>
              <a:rPr lang="es-ES" dirty="0" err="1"/>
              <a:t>year</a:t>
            </a:r>
            <a:r>
              <a:rPr lang="es-ES" dirty="0"/>
              <a:t>): </a:t>
            </a:r>
            <a:r>
              <a:rPr lang="es-ES" dirty="0">
                <a:solidFill>
                  <a:srgbClr val="FF0000"/>
                </a:solidFill>
              </a:rPr>
              <a:t>In</a:t>
            </a:r>
            <a:r>
              <a:rPr lang="es-ES" dirty="0"/>
              <a:t> June/In 2019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           </a:t>
            </a:r>
            <a:r>
              <a:rPr lang="es-ES" dirty="0">
                <a:solidFill>
                  <a:srgbClr val="FF0000"/>
                </a:solidFill>
              </a:rPr>
              <a:t>IN </a:t>
            </a:r>
            <a:r>
              <a:rPr lang="es-ES" dirty="0"/>
              <a:t>__</a:t>
            </a:r>
            <a:r>
              <a:rPr lang="es-ES" dirty="0">
                <a:solidFill>
                  <a:srgbClr val="FF0000"/>
                </a:solidFill>
              </a:rPr>
              <a:t>2 </a:t>
            </a:r>
            <a:r>
              <a:rPr lang="es-ES" dirty="0" err="1">
                <a:solidFill>
                  <a:srgbClr val="FF0000"/>
                </a:solidFill>
              </a:rPr>
              <a:t>weeks</a:t>
            </a:r>
            <a:r>
              <a:rPr lang="es-ES" dirty="0">
                <a:solidFill>
                  <a:srgbClr val="FF0000"/>
                </a:solidFill>
              </a:rPr>
              <a:t>/</a:t>
            </a:r>
            <a:r>
              <a:rPr lang="es-ES" dirty="0" err="1">
                <a:solidFill>
                  <a:srgbClr val="FF0000"/>
                </a:solidFill>
              </a:rPr>
              <a:t>years</a:t>
            </a:r>
            <a:r>
              <a:rPr lang="es-ES" dirty="0"/>
              <a:t>___ TIME 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           </a:t>
            </a:r>
            <a:r>
              <a:rPr lang="es-ES" dirty="0">
                <a:solidFill>
                  <a:srgbClr val="FF0000"/>
                </a:solidFill>
              </a:rPr>
              <a:t>ON </a:t>
            </a:r>
            <a:r>
              <a:rPr lang="es-ES" dirty="0"/>
              <a:t>+ </a:t>
            </a:r>
            <a:r>
              <a:rPr lang="es-ES" sz="2200" dirty="0"/>
              <a:t>________ (</a:t>
            </a:r>
            <a:r>
              <a:rPr lang="es-ES" sz="2200" dirty="0" err="1"/>
              <a:t>future</a:t>
            </a:r>
            <a:r>
              <a:rPr lang="es-ES" sz="2200" dirty="0"/>
              <a:t> </a:t>
            </a:r>
            <a:r>
              <a:rPr lang="es-ES" sz="2200" dirty="0" err="1"/>
              <a:t>weekday</a:t>
            </a:r>
            <a:r>
              <a:rPr lang="es-ES" sz="2200" dirty="0"/>
              <a:t>): </a:t>
            </a:r>
            <a:r>
              <a:rPr lang="es-ES" sz="2200" dirty="0" err="1">
                <a:solidFill>
                  <a:srgbClr val="FF0000"/>
                </a:solidFill>
              </a:rPr>
              <a:t>On</a:t>
            </a:r>
            <a:r>
              <a:rPr lang="es-ES" sz="2200" dirty="0"/>
              <a:t> </a:t>
            </a:r>
            <a:r>
              <a:rPr lang="es-ES" sz="2200" dirty="0" err="1"/>
              <a:t>Monday</a:t>
            </a:r>
            <a:r>
              <a:rPr lang="es-ES" sz="2200" dirty="0"/>
              <a:t> (</a:t>
            </a:r>
            <a:r>
              <a:rPr lang="es-ES" sz="2200" dirty="0" err="1"/>
              <a:t>only</a:t>
            </a:r>
            <a:r>
              <a:rPr lang="es-ES" sz="2200" dirty="0"/>
              <a:t> </a:t>
            </a:r>
            <a:r>
              <a:rPr lang="es-ES" sz="2200" dirty="0" err="1"/>
              <a:t>if</a:t>
            </a:r>
            <a:r>
              <a:rPr lang="es-ES" sz="2200" dirty="0"/>
              <a:t> </a:t>
            </a:r>
            <a:r>
              <a:rPr lang="es-ES" sz="2200" dirty="0" err="1"/>
              <a:t>today</a:t>
            </a:r>
            <a:r>
              <a:rPr lang="es-ES" sz="2200" dirty="0"/>
              <a:t> </a:t>
            </a:r>
            <a:r>
              <a:rPr lang="es-ES" sz="2200" dirty="0" err="1"/>
              <a:t>is</a:t>
            </a:r>
            <a:r>
              <a:rPr lang="es-ES" sz="2200" dirty="0"/>
              <a:t> </a:t>
            </a:r>
            <a:r>
              <a:rPr lang="es-ES" sz="2200" dirty="0" err="1"/>
              <a:t>Sunday</a:t>
            </a:r>
            <a:r>
              <a:rPr lang="es-ES" sz="2200" dirty="0"/>
              <a:t> 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          SOON / LATER/ IN THE NEAR FUTURE/ THIS AFTERNOON etc…			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410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Be + </a:t>
            </a:r>
            <a:r>
              <a:rPr lang="es-ES" dirty="0" err="1"/>
              <a:t>going</a:t>
            </a:r>
            <a:r>
              <a:rPr lang="es-ES" dirty="0"/>
              <a:t> to + </a:t>
            </a:r>
            <a:r>
              <a:rPr lang="es-ES" dirty="0" err="1"/>
              <a:t>infinitive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>
                <a:solidFill>
                  <a:srgbClr val="FF0000"/>
                </a:solidFill>
              </a:rPr>
              <a:t>For</a:t>
            </a:r>
            <a:r>
              <a:rPr lang="es-ES" dirty="0">
                <a:solidFill>
                  <a:srgbClr val="FF0000"/>
                </a:solidFill>
              </a:rPr>
              <a:t> FUTURE PLANS – </a:t>
            </a:r>
            <a:r>
              <a:rPr lang="es-ES" dirty="0"/>
              <a:t>I am </a:t>
            </a:r>
            <a:r>
              <a:rPr lang="es-ES" dirty="0" err="1"/>
              <a:t>going</a:t>
            </a:r>
            <a:r>
              <a:rPr lang="es-ES" dirty="0"/>
              <a:t> to </a:t>
            </a:r>
            <a:r>
              <a:rPr lang="es-ES" dirty="0" err="1"/>
              <a:t>see</a:t>
            </a:r>
            <a:r>
              <a:rPr lang="es-ES" dirty="0"/>
              <a:t>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friends</a:t>
            </a:r>
            <a:r>
              <a:rPr lang="es-ES" dirty="0"/>
              <a:t> /I am </a:t>
            </a:r>
            <a:r>
              <a:rPr lang="es-ES" dirty="0" err="1">
                <a:solidFill>
                  <a:srgbClr val="FF0000"/>
                </a:solidFill>
              </a:rPr>
              <a:t>not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/>
              <a:t>going</a:t>
            </a:r>
            <a:r>
              <a:rPr lang="es-ES" dirty="0"/>
              <a:t> to </a:t>
            </a:r>
            <a:r>
              <a:rPr lang="es-ES" dirty="0" err="1"/>
              <a:t>see</a:t>
            </a:r>
            <a:r>
              <a:rPr lang="es-ES" dirty="0"/>
              <a:t>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friends</a:t>
            </a:r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For</a:t>
            </a:r>
            <a:r>
              <a:rPr lang="es-ES" dirty="0">
                <a:solidFill>
                  <a:srgbClr val="FF0000"/>
                </a:solidFill>
              </a:rPr>
              <a:t> INTENTIONS  - </a:t>
            </a:r>
            <a:r>
              <a:rPr lang="es-ES" dirty="0" err="1"/>
              <a:t>We</a:t>
            </a:r>
            <a:r>
              <a:rPr lang="es-ES" dirty="0"/>
              <a:t> are </a:t>
            </a:r>
            <a:r>
              <a:rPr lang="es-ES" dirty="0" err="1"/>
              <a:t>going</a:t>
            </a:r>
            <a:r>
              <a:rPr lang="es-ES" dirty="0"/>
              <a:t> to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married</a:t>
            </a:r>
            <a:r>
              <a:rPr lang="es-ES" dirty="0"/>
              <a:t> </a:t>
            </a:r>
            <a:r>
              <a:rPr lang="es-ES" dirty="0" err="1"/>
              <a:t>soon</a:t>
            </a:r>
            <a:r>
              <a:rPr lang="es-ES" dirty="0"/>
              <a:t> /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>
                <a:solidFill>
                  <a:srgbClr val="FF0000"/>
                </a:solidFill>
              </a:rPr>
              <a:t>aren’t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/>
              <a:t>going</a:t>
            </a:r>
            <a:r>
              <a:rPr lang="es-ES" dirty="0"/>
              <a:t> to </a:t>
            </a:r>
            <a:r>
              <a:rPr lang="es-ES" dirty="0" err="1"/>
              <a:t>get</a:t>
            </a:r>
            <a:r>
              <a:rPr lang="es-ES" dirty="0"/>
              <a:t> </a:t>
            </a:r>
            <a:r>
              <a:rPr lang="es-ES" dirty="0" err="1"/>
              <a:t>married</a:t>
            </a:r>
            <a:r>
              <a:rPr lang="es-ES" dirty="0"/>
              <a:t> </a:t>
            </a:r>
            <a:r>
              <a:rPr lang="es-ES" dirty="0" err="1"/>
              <a:t>soon</a:t>
            </a:r>
            <a:endParaRPr lang="es-ES" dirty="0"/>
          </a:p>
          <a:p>
            <a:r>
              <a:rPr lang="es-ES" dirty="0" err="1">
                <a:solidFill>
                  <a:srgbClr val="FF0000"/>
                </a:solidFill>
              </a:rPr>
              <a:t>For</a:t>
            </a:r>
            <a:r>
              <a:rPr lang="es-ES" dirty="0">
                <a:solidFill>
                  <a:srgbClr val="FF0000"/>
                </a:solidFill>
              </a:rPr>
              <a:t> PREDICTIONS –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going</a:t>
            </a:r>
            <a:r>
              <a:rPr lang="es-ES" dirty="0"/>
              <a:t> to rain </a:t>
            </a:r>
            <a:r>
              <a:rPr lang="es-ES" dirty="0" err="1"/>
              <a:t>tomorrow</a:t>
            </a:r>
            <a:r>
              <a:rPr lang="es-ES" dirty="0"/>
              <a:t> /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>
                <a:solidFill>
                  <a:srgbClr val="FF0000"/>
                </a:solidFill>
              </a:rPr>
              <a:t>isn’t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 err="1"/>
              <a:t>going</a:t>
            </a:r>
            <a:r>
              <a:rPr lang="es-ES" dirty="0"/>
              <a:t> to rain </a:t>
            </a:r>
            <a:r>
              <a:rPr lang="es-ES" dirty="0" err="1"/>
              <a:t>tomorrow</a:t>
            </a:r>
            <a:endParaRPr lang="es-ES" dirty="0"/>
          </a:p>
          <a:p>
            <a:pPr lvl="1"/>
            <a:endParaRPr lang="es-ES" dirty="0">
              <a:solidFill>
                <a:srgbClr val="FF0000"/>
              </a:solidFill>
            </a:endParaRPr>
          </a:p>
          <a:p>
            <a:pPr lvl="1"/>
            <a:r>
              <a:rPr lang="es-ES" dirty="0"/>
              <a:t>More </a:t>
            </a:r>
            <a:r>
              <a:rPr lang="es-ES" dirty="0" err="1"/>
              <a:t>examples</a:t>
            </a:r>
            <a:endParaRPr lang="es-ES" dirty="0"/>
          </a:p>
          <a:p>
            <a:r>
              <a:rPr lang="es-ES" sz="1800" dirty="0"/>
              <a:t>I am </a:t>
            </a:r>
            <a:r>
              <a:rPr lang="es-ES" sz="1800" dirty="0" err="1"/>
              <a:t>going</a:t>
            </a:r>
            <a:r>
              <a:rPr lang="es-ES" sz="1800" dirty="0"/>
              <a:t> to </a:t>
            </a:r>
            <a:r>
              <a:rPr lang="es-ES" sz="1800" dirty="0" err="1"/>
              <a:t>study</a:t>
            </a:r>
            <a:r>
              <a:rPr lang="es-ES" sz="1800" dirty="0"/>
              <a:t> </a:t>
            </a:r>
            <a:r>
              <a:rPr lang="es-ES" sz="1800" dirty="0" err="1"/>
              <a:t>this</a:t>
            </a:r>
            <a:r>
              <a:rPr lang="es-ES" sz="1800" dirty="0"/>
              <a:t> </a:t>
            </a:r>
            <a:r>
              <a:rPr lang="es-ES" sz="1800" dirty="0" err="1"/>
              <a:t>afternoon</a:t>
            </a:r>
            <a:r>
              <a:rPr lang="es-ES" sz="1800" dirty="0"/>
              <a:t> (</a:t>
            </a:r>
            <a:r>
              <a:rPr lang="es-ES" sz="1800" dirty="0" err="1">
                <a:solidFill>
                  <a:srgbClr val="FF0000"/>
                </a:solidFill>
              </a:rPr>
              <a:t>this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is</a:t>
            </a:r>
            <a:r>
              <a:rPr lang="es-ES" sz="1800" dirty="0">
                <a:solidFill>
                  <a:srgbClr val="FF0000"/>
                </a:solidFill>
              </a:rPr>
              <a:t>  </a:t>
            </a:r>
            <a:r>
              <a:rPr lang="es-ES" sz="1800" dirty="0" err="1">
                <a:solidFill>
                  <a:srgbClr val="FF0000"/>
                </a:solidFill>
              </a:rPr>
              <a:t>my</a:t>
            </a:r>
            <a:r>
              <a:rPr lang="es-ES" sz="1800" dirty="0">
                <a:solidFill>
                  <a:srgbClr val="FF0000"/>
                </a:solidFill>
              </a:rPr>
              <a:t> plan  </a:t>
            </a:r>
            <a:r>
              <a:rPr lang="es-ES" sz="1800" dirty="0" err="1">
                <a:solidFill>
                  <a:srgbClr val="FF0000"/>
                </a:solidFill>
              </a:rPr>
              <a:t>for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the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afternoon</a:t>
            </a:r>
            <a:r>
              <a:rPr lang="es-ES" sz="1800" dirty="0"/>
              <a:t>)</a:t>
            </a:r>
          </a:p>
          <a:p>
            <a:r>
              <a:rPr lang="es-ES" sz="1800" dirty="0"/>
              <a:t>I am </a:t>
            </a:r>
            <a:r>
              <a:rPr lang="es-ES" sz="1800" dirty="0" err="1"/>
              <a:t>going</a:t>
            </a:r>
            <a:r>
              <a:rPr lang="es-ES" sz="1800" dirty="0"/>
              <a:t> to </a:t>
            </a:r>
            <a:r>
              <a:rPr lang="es-ES" sz="1800" dirty="0" err="1"/>
              <a:t>study</a:t>
            </a:r>
            <a:r>
              <a:rPr lang="es-ES" sz="1800" dirty="0"/>
              <a:t> </a:t>
            </a:r>
            <a:r>
              <a:rPr lang="es-ES" sz="1800" dirty="0" err="1"/>
              <a:t>hard</a:t>
            </a:r>
            <a:r>
              <a:rPr lang="es-ES" sz="1800" dirty="0"/>
              <a:t> </a:t>
            </a:r>
            <a:r>
              <a:rPr lang="es-ES" sz="1800" dirty="0" err="1"/>
              <a:t>this</a:t>
            </a:r>
            <a:r>
              <a:rPr lang="es-ES" sz="1800" dirty="0"/>
              <a:t> </a:t>
            </a:r>
            <a:r>
              <a:rPr lang="es-ES" sz="1800" dirty="0" err="1"/>
              <a:t>year</a:t>
            </a:r>
            <a:r>
              <a:rPr lang="es-ES" sz="1800" dirty="0"/>
              <a:t> (</a:t>
            </a:r>
            <a:r>
              <a:rPr lang="es-ES" sz="1800" dirty="0" err="1">
                <a:solidFill>
                  <a:srgbClr val="FF0000"/>
                </a:solidFill>
              </a:rPr>
              <a:t>this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is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my</a:t>
            </a:r>
            <a:r>
              <a:rPr lang="es-ES" sz="1800" dirty="0">
                <a:solidFill>
                  <a:srgbClr val="FF0000"/>
                </a:solidFill>
              </a:rPr>
              <a:t> new </a:t>
            </a:r>
            <a:r>
              <a:rPr lang="es-ES" sz="1800" dirty="0" err="1">
                <a:solidFill>
                  <a:srgbClr val="FF0000"/>
                </a:solidFill>
              </a:rPr>
              <a:t>year’s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resolution</a:t>
            </a:r>
            <a:r>
              <a:rPr lang="es-ES" sz="1800" dirty="0"/>
              <a:t>) </a:t>
            </a:r>
          </a:p>
          <a:p>
            <a:r>
              <a:rPr lang="es-ES" sz="1800" dirty="0"/>
              <a:t>I am </a:t>
            </a:r>
            <a:r>
              <a:rPr lang="es-ES" sz="1800" dirty="0" err="1"/>
              <a:t>going</a:t>
            </a:r>
            <a:r>
              <a:rPr lang="es-ES" sz="1800" dirty="0"/>
              <a:t> to be a doctor (</a:t>
            </a:r>
            <a:r>
              <a:rPr lang="es-ES" sz="1800" dirty="0" err="1">
                <a:solidFill>
                  <a:srgbClr val="FF0000"/>
                </a:solidFill>
              </a:rPr>
              <a:t>it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is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my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prediction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for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the</a:t>
            </a:r>
            <a:r>
              <a:rPr lang="es-ES" sz="1800" dirty="0">
                <a:solidFill>
                  <a:srgbClr val="FF0000"/>
                </a:solidFill>
              </a:rPr>
              <a:t> </a:t>
            </a:r>
            <a:r>
              <a:rPr lang="es-ES" sz="1800" dirty="0" err="1">
                <a:solidFill>
                  <a:srgbClr val="FF0000"/>
                </a:solidFill>
              </a:rPr>
              <a:t>future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AutoShape 2" descr="Resultado de imagen de I am going to be 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1028" name="Picture 4" descr="Resultado de imagen de I am going to be 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091" y="283337"/>
            <a:ext cx="2443258" cy="183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de I am going to trav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327" y="3896583"/>
            <a:ext cx="3400022" cy="296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1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592616" cy="1499616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So, What are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you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going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 to do at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</a:rPr>
              <a:t>weekend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? </a:t>
            </a:r>
            <a:r>
              <a:rPr lang="es-ES" sz="3200" dirty="0"/>
              <a:t>WHAT ARE YOUR PLANS / INTENTIONS?</a:t>
            </a:r>
            <a:endParaRPr lang="es-E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54" name="Picture 6" descr="Resultado de imagen de CINE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35" y="1919996"/>
            <a:ext cx="2324655" cy="232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de sus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142" y="1786520"/>
            <a:ext cx="1944710" cy="194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sultado de imagen de go ski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094" y="4151057"/>
            <a:ext cx="2027290" cy="231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sultado de imagen de shopping c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584" y="4351397"/>
            <a:ext cx="2256116" cy="225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de go on holida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35" y="4380564"/>
            <a:ext cx="2996975" cy="219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Resultado de imagen de wor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261" y="2034863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Resultado de imagen de conferenc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088" y="1786520"/>
            <a:ext cx="3024760" cy="243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Resultado de imagen de watch tv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425" y="4138702"/>
            <a:ext cx="1926845" cy="247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Resultado de imagen de clean the house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327" y="4273428"/>
            <a:ext cx="2417650" cy="241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057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PRESENT CONTINUOUS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0376" y="2286000"/>
            <a:ext cx="10283826" cy="4023360"/>
          </a:xfrm>
        </p:spPr>
        <p:txBody>
          <a:bodyPr>
            <a:normAutofit/>
          </a:bodyPr>
          <a:lstStyle/>
          <a:p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>
                <a:solidFill>
                  <a:srgbClr val="FF0000"/>
                </a:solidFill>
              </a:rPr>
              <a:t>FUTURE ARRANGEMENTS  </a:t>
            </a:r>
            <a:r>
              <a:rPr lang="ca-ES" dirty="0"/>
              <a:t> </a:t>
            </a:r>
            <a:r>
              <a:rPr lang="ca-ES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ca-ES" dirty="0" err="1">
                <a:solidFill>
                  <a:schemeClr val="accent1">
                    <a:lumMod val="75000"/>
                  </a:schemeClr>
                </a:solidFill>
              </a:rPr>
              <a:t>əˈreɪndʒ.mənt</a:t>
            </a:r>
            <a:r>
              <a:rPr lang="ca-ES" dirty="0">
                <a:solidFill>
                  <a:schemeClr val="accent1">
                    <a:lumMod val="75000"/>
                  </a:schemeClr>
                </a:solidFill>
              </a:rPr>
              <a:t>/ 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dirty="0"/>
              <a:t>Ex. </a:t>
            </a:r>
            <a:r>
              <a:rPr lang="es-ES" dirty="0">
                <a:solidFill>
                  <a:srgbClr val="FF0000"/>
                </a:solidFill>
              </a:rPr>
              <a:t>I am </a:t>
            </a:r>
            <a:r>
              <a:rPr lang="es-ES" dirty="0" err="1">
                <a:solidFill>
                  <a:srgbClr val="FF0000"/>
                </a:solidFill>
              </a:rPr>
              <a:t>seeing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doctor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Wednesday</a:t>
            </a:r>
            <a:r>
              <a:rPr lang="es-ES" dirty="0"/>
              <a:t> 8th </a:t>
            </a:r>
          </a:p>
          <a:p>
            <a:r>
              <a:rPr lang="es-ES" dirty="0"/>
              <a:t>               </a:t>
            </a:r>
          </a:p>
          <a:p>
            <a:r>
              <a:rPr lang="es-ES" dirty="0"/>
              <a:t>                                  </a:t>
            </a:r>
            <a:r>
              <a:rPr lang="es-ES" b="1" u="sng" dirty="0"/>
              <a:t>FIXED PLACE OR TIME !</a:t>
            </a:r>
          </a:p>
        </p:txBody>
      </p:sp>
      <p:sp>
        <p:nvSpPr>
          <p:cNvPr id="4" name="AutoShape 2" descr="Resultado de imagen de I am going to be 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3074" name="Picture 2" descr="Resultado de imagen de SCHEDULE  AGENDA VIEW APPOINTM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194" y="748552"/>
            <a:ext cx="5941335" cy="524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de agen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372969"/>
            <a:ext cx="2776515" cy="290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98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Travel</a:t>
            </a:r>
            <a:r>
              <a:rPr lang="es-ES" dirty="0"/>
              <a:t> </a:t>
            </a:r>
            <a:r>
              <a:rPr lang="es-ES" dirty="0" err="1"/>
              <a:t>Intinerary</a:t>
            </a:r>
            <a:r>
              <a:rPr lang="es-ES" dirty="0"/>
              <a:t> / 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4098" name="Picture 2" descr="Resultado de imagen de travel itinerary day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49" y="1983346"/>
            <a:ext cx="5970835" cy="448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08" y="0"/>
            <a:ext cx="3848100" cy="743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38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PRESENT CONTINUOUS - PRACTICE </a:t>
            </a:r>
            <a:br>
              <a:rPr lang="es-ES" dirty="0"/>
            </a:br>
            <a:r>
              <a:rPr lang="en-US" sz="2400" dirty="0"/>
              <a:t>Which of the sentences in each pair has a future meaning? </a:t>
            </a:r>
          </a:p>
        </p:txBody>
      </p:sp>
      <p:sp>
        <p:nvSpPr>
          <p:cNvPr id="4" name="AutoShape 2" descr="Resultado de imagen de past continuous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6" name="5 Rectángulo"/>
          <p:cNvSpPr/>
          <p:nvPr/>
        </p:nvSpPr>
        <p:spPr>
          <a:xfrm>
            <a:off x="1107584" y="2137892"/>
            <a:ext cx="1026446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a. Are you going to fix the computer? </a:t>
            </a:r>
          </a:p>
          <a:p>
            <a:r>
              <a:rPr lang="en-US" sz="2000" dirty="0"/>
              <a:t>	 b. Are you fixing the computer? </a:t>
            </a:r>
          </a:p>
          <a:p>
            <a:r>
              <a:rPr lang="en-US" sz="2000" dirty="0"/>
              <a:t>2.     a. In tomorrow’s class, the teacher is explaining the future forms. </a:t>
            </a:r>
          </a:p>
          <a:p>
            <a:r>
              <a:rPr lang="en-US" sz="2000" dirty="0"/>
              <a:t>        b. The teacher is explaining the future forms. Right now he is assigning a task. </a:t>
            </a:r>
          </a:p>
          <a:p>
            <a:pPr marL="342900" indent="-342900">
              <a:buAutoNum type="arabicPeriod" startAt="3"/>
            </a:pPr>
            <a:r>
              <a:rPr lang="en-US" sz="2000" dirty="0"/>
              <a:t>   a. Sheila is going to cook pizza for dinner tonight. </a:t>
            </a:r>
          </a:p>
          <a:p>
            <a:r>
              <a:rPr lang="en-US" sz="2000" dirty="0"/>
              <a:t>        b. Sheila cooks pizza for dinner every Friday night. </a:t>
            </a:r>
          </a:p>
          <a:p>
            <a:pPr marL="342900" indent="-342900">
              <a:buAutoNum type="arabicPeriod" startAt="4"/>
            </a:pPr>
            <a:r>
              <a:rPr lang="en-US" sz="2000" dirty="0"/>
              <a:t>   a. Oh, no! Steve is putting paprika into the soufflé. Stop him! </a:t>
            </a:r>
          </a:p>
          <a:p>
            <a:r>
              <a:rPr lang="en-US" sz="2000" dirty="0"/>
              <a:t>       b. Steve is making onion soufflé later. </a:t>
            </a:r>
          </a:p>
          <a:p>
            <a:pPr marL="342900" indent="-342900">
              <a:buAutoNum type="arabicPeriod" startAt="5"/>
            </a:pPr>
            <a:r>
              <a:rPr lang="en-US" sz="2000" dirty="0"/>
              <a:t>a. First, Sean is going to cut up the chicken. Then he is going to season it with paprika and garlic. </a:t>
            </a:r>
          </a:p>
          <a:p>
            <a:r>
              <a:rPr lang="en-US" sz="2000" dirty="0"/>
              <a:t>      b. Now Sean is cutting up the chicken and seasoning it with paprika and garlic. </a:t>
            </a:r>
          </a:p>
          <a:p>
            <a:pPr marL="342900" indent="-342900">
              <a:buAutoNum type="arabicPeriod" startAt="6"/>
            </a:pPr>
            <a:r>
              <a:rPr lang="en-US" sz="2000" dirty="0"/>
              <a:t>  a. We don’t usually work on Monday mornings. </a:t>
            </a:r>
          </a:p>
          <a:p>
            <a:r>
              <a:rPr lang="en-US" sz="2000" dirty="0"/>
              <a:t>      b. We aren’t working on Monday morning. </a:t>
            </a:r>
          </a:p>
          <a:p>
            <a:pPr marL="342900" indent="-342900">
              <a:buAutoNum type="arabicPeriod" startAt="7"/>
            </a:pPr>
            <a:r>
              <a:rPr lang="en-US" sz="2000" dirty="0"/>
              <a:t> a. “Where are you going now?” “I’m going home.” </a:t>
            </a:r>
          </a:p>
          <a:p>
            <a:r>
              <a:rPr lang="en-US" sz="2000" dirty="0"/>
              <a:t>      b. “What are you going to do later?” “I am going to bake a lemon cake.” </a:t>
            </a:r>
          </a:p>
        </p:txBody>
      </p:sp>
    </p:spTree>
    <p:extLst>
      <p:ext uri="{BB962C8B-B14F-4D97-AF65-F5344CB8AC3E}">
        <p14:creationId xmlns:p14="http://schemas.microsoft.com/office/powerpoint/2010/main" val="1229470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WILL / WON’T </a:t>
            </a:r>
            <a:br>
              <a:rPr lang="es-ES" dirty="0"/>
            </a:b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AutoShape 2" descr="Resultado de imagen de past continuous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7" name="6 Rectángulo"/>
          <p:cNvSpPr/>
          <p:nvPr/>
        </p:nvSpPr>
        <p:spPr>
          <a:xfrm>
            <a:off x="8500918" y="6336022"/>
            <a:ext cx="3261129" cy="203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" name="AutoShape 2" descr="Resultado de imagen de will won't  future instant decisions promis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5" name="AutoShape 4" descr="Resultado de imagen de will won't  future instant decisions promise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5126" name="Picture 6" descr="Resultado de imagen de will won't  future instant decisions promis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999" y="617538"/>
            <a:ext cx="6949837" cy="474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460375" y="2575775"/>
            <a:ext cx="47426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2400" dirty="0" err="1"/>
              <a:t>She</a:t>
            </a:r>
            <a:r>
              <a:rPr lang="es-ES" sz="2400" dirty="0"/>
              <a:t> </a:t>
            </a:r>
            <a:r>
              <a:rPr lang="es-ES" sz="2400" dirty="0" err="1">
                <a:solidFill>
                  <a:srgbClr val="FF0000"/>
                </a:solidFill>
              </a:rPr>
              <a:t>will</a:t>
            </a:r>
            <a:r>
              <a:rPr lang="es-ES" sz="2400" dirty="0">
                <a:solidFill>
                  <a:srgbClr val="FF0000"/>
                </a:solidFill>
              </a:rPr>
              <a:t> </a:t>
            </a:r>
            <a:r>
              <a:rPr lang="es-ES" sz="2400" dirty="0" err="1"/>
              <a:t>finish</a:t>
            </a:r>
            <a:r>
              <a:rPr lang="es-ES" sz="2400" dirty="0"/>
              <a:t> </a:t>
            </a:r>
            <a:r>
              <a:rPr lang="es-ES" sz="2400" dirty="0" err="1"/>
              <a:t>it</a:t>
            </a:r>
            <a:r>
              <a:rPr lang="es-ES" sz="2400" dirty="0"/>
              <a:t> </a:t>
            </a:r>
            <a:r>
              <a:rPr lang="es-ES" sz="2400" dirty="0" err="1"/>
              <a:t>later</a:t>
            </a: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boss</a:t>
            </a:r>
            <a:r>
              <a:rPr lang="es-ES" sz="2400" dirty="0"/>
              <a:t> </a:t>
            </a:r>
            <a:r>
              <a:rPr lang="es-ES" sz="2400" dirty="0" err="1">
                <a:solidFill>
                  <a:srgbClr val="FF0000"/>
                </a:solidFill>
              </a:rPr>
              <a:t>won’t</a:t>
            </a:r>
            <a:r>
              <a:rPr lang="es-ES" sz="2400" dirty="0">
                <a:solidFill>
                  <a:srgbClr val="FF0000"/>
                </a:solidFill>
              </a:rPr>
              <a:t> </a:t>
            </a:r>
            <a:r>
              <a:rPr lang="es-ES" sz="2400" dirty="0"/>
              <a:t>be late</a:t>
            </a:r>
          </a:p>
          <a:p>
            <a:pPr marL="285750" indent="-285750">
              <a:buFontTx/>
              <a:buChar char="-"/>
            </a:pPr>
            <a:r>
              <a:rPr lang="es-ES" sz="2400" dirty="0" err="1"/>
              <a:t>It</a:t>
            </a:r>
            <a:r>
              <a:rPr lang="es-ES" sz="2400" dirty="0"/>
              <a:t> </a:t>
            </a:r>
            <a:r>
              <a:rPr lang="es-ES" sz="2400" dirty="0" err="1">
                <a:solidFill>
                  <a:srgbClr val="FF0000"/>
                </a:solidFill>
              </a:rPr>
              <a:t>will</a:t>
            </a:r>
            <a:r>
              <a:rPr lang="es-ES" sz="2400" dirty="0">
                <a:solidFill>
                  <a:srgbClr val="FF0000"/>
                </a:solidFill>
              </a:rPr>
              <a:t> </a:t>
            </a:r>
            <a:r>
              <a:rPr lang="es-ES" sz="2400" dirty="0" err="1"/>
              <a:t>take</a:t>
            </a:r>
            <a:r>
              <a:rPr lang="es-ES" sz="2400" dirty="0"/>
              <a:t> a minute</a:t>
            </a:r>
          </a:p>
          <a:p>
            <a:pPr marL="285750" indent="-285750">
              <a:buFontTx/>
              <a:buChar char="-"/>
            </a:pPr>
            <a:r>
              <a:rPr lang="es-ES" sz="2400" dirty="0" err="1"/>
              <a:t>I</a:t>
            </a:r>
            <a:r>
              <a:rPr lang="es-ES" sz="2400" dirty="0" err="1">
                <a:solidFill>
                  <a:srgbClr val="FF0000"/>
                </a:solidFill>
              </a:rPr>
              <a:t>’ll</a:t>
            </a:r>
            <a:r>
              <a:rPr lang="es-ES" sz="2400" dirty="0"/>
              <a:t> </a:t>
            </a:r>
            <a:r>
              <a:rPr lang="es-ES" sz="2400" dirty="0" err="1"/>
              <a:t>have</a:t>
            </a:r>
            <a:r>
              <a:rPr lang="es-ES" sz="2400" dirty="0"/>
              <a:t>  a </a:t>
            </a:r>
            <a:r>
              <a:rPr lang="es-ES" sz="2400" dirty="0" err="1"/>
              <a:t>beer</a:t>
            </a:r>
            <a:r>
              <a:rPr lang="es-ES" sz="2400" dirty="0"/>
              <a:t> and a salad (at </a:t>
            </a:r>
            <a:r>
              <a:rPr lang="es-ES" sz="2400" dirty="0" err="1"/>
              <a:t>the</a:t>
            </a:r>
            <a:r>
              <a:rPr lang="es-ES" sz="2400" dirty="0"/>
              <a:t> restaurant)</a:t>
            </a:r>
          </a:p>
          <a:p>
            <a:pPr marL="285750" indent="-285750">
              <a:buFontTx/>
              <a:buChar char="-"/>
            </a:pPr>
            <a:r>
              <a:rPr lang="es-ES" sz="2400" dirty="0"/>
              <a:t>I can </a:t>
            </a:r>
            <a:r>
              <a:rPr lang="es-ES" sz="2400" dirty="0" err="1"/>
              <a:t>tell</a:t>
            </a:r>
            <a:r>
              <a:rPr lang="es-ES" sz="2400" dirty="0"/>
              <a:t> </a:t>
            </a:r>
            <a:r>
              <a:rPr lang="es-ES" sz="2400" dirty="0" err="1"/>
              <a:t>you</a:t>
            </a:r>
            <a:r>
              <a:rPr lang="es-ES" sz="2400" dirty="0"/>
              <a:t>, once </a:t>
            </a:r>
            <a:r>
              <a:rPr lang="es-ES" sz="2400" dirty="0" err="1"/>
              <a:t>it</a:t>
            </a:r>
            <a:r>
              <a:rPr lang="es-ES" sz="2400" dirty="0"/>
              <a:t> </a:t>
            </a:r>
            <a:r>
              <a:rPr lang="es-ES" sz="2400" dirty="0" err="1"/>
              <a:t>is</a:t>
            </a:r>
            <a:r>
              <a:rPr lang="es-ES" sz="2400" dirty="0"/>
              <a:t> </a:t>
            </a:r>
            <a:r>
              <a:rPr lang="es-ES" sz="2400" dirty="0" err="1"/>
              <a:t>finshed</a:t>
            </a:r>
            <a:r>
              <a:rPr lang="es-ES" sz="2400" dirty="0"/>
              <a:t> </a:t>
            </a:r>
            <a:r>
              <a:rPr lang="es-ES" sz="2400" dirty="0" err="1">
                <a:solidFill>
                  <a:srgbClr val="FF0000"/>
                </a:solidFill>
              </a:rPr>
              <a:t>you’ll</a:t>
            </a:r>
            <a:r>
              <a:rPr lang="es-ES" sz="2400" dirty="0">
                <a:solidFill>
                  <a:srgbClr val="FF0000"/>
                </a:solidFill>
              </a:rPr>
              <a:t> </a:t>
            </a:r>
            <a:r>
              <a:rPr lang="es-ES" sz="2400" dirty="0"/>
              <a:t>be </a:t>
            </a:r>
            <a:r>
              <a:rPr lang="es-ES" sz="2400" dirty="0" err="1"/>
              <a:t>satisfied</a:t>
            </a:r>
            <a:endParaRPr lang="ca-ES" sz="2400" dirty="0"/>
          </a:p>
        </p:txBody>
      </p:sp>
      <p:pic>
        <p:nvPicPr>
          <p:cNvPr id="5130" name="Picture 10" descr="Resultado de imagen de WILL PREDI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146" y="4295314"/>
            <a:ext cx="2431265" cy="256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4" descr="Imagen relacionad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10" name="AutoShape 16" descr="Imagen relacionad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11" name="AutoShape 18" descr="Imagen relacionada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12" name="AutoShape 20" descr="Imagen relacionada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13" name="AutoShape 22" descr="Imagen relacionada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5144" name="Picture 2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48" y="7937"/>
            <a:ext cx="3677679" cy="215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6" name="Picture 26" descr="Resultado de imagen de problem solving CUSTOM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769" y="4745811"/>
            <a:ext cx="3412278" cy="19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83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WILL / WON’T </a:t>
            </a:r>
            <a:br>
              <a:rPr lang="es-ES" dirty="0"/>
            </a:b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AutoShape 2" descr="Resultado de imagen de past continuous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7" name="6 Rectángulo"/>
          <p:cNvSpPr/>
          <p:nvPr/>
        </p:nvSpPr>
        <p:spPr>
          <a:xfrm>
            <a:off x="8500918" y="6336022"/>
            <a:ext cx="3261129" cy="203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" name="AutoShape 2" descr="Resultado de imagen de will won't  future instant decisions promis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5" name="AutoShape 4" descr="Resultado de imagen de will won't  future instant decisions promise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5128" name="Picture 8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002" y="286322"/>
            <a:ext cx="4217864" cy="316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873842"/>
            <a:ext cx="4611420" cy="346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456" y="2382867"/>
            <a:ext cx="4377027" cy="328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409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Future</a:t>
            </a:r>
            <a:r>
              <a:rPr lang="es-ES" dirty="0"/>
              <a:t> </a:t>
            </a:r>
            <a:r>
              <a:rPr lang="es-ES" dirty="0" err="1"/>
              <a:t>predictions</a:t>
            </a:r>
            <a:r>
              <a:rPr lang="es-ES" dirty="0"/>
              <a:t>: be </a:t>
            </a:r>
            <a:r>
              <a:rPr lang="es-ES" dirty="0" err="1"/>
              <a:t>going</a:t>
            </a:r>
            <a:r>
              <a:rPr lang="es-ES" dirty="0"/>
              <a:t> to </a:t>
            </a:r>
            <a:r>
              <a:rPr lang="es-ES" sz="3200" dirty="0"/>
              <a:t>OR </a:t>
            </a:r>
            <a:r>
              <a:rPr lang="es-ES" dirty="0"/>
              <a:t>WILL?</a:t>
            </a:r>
            <a:endParaRPr lang="ca-ES" dirty="0"/>
          </a:p>
        </p:txBody>
      </p:sp>
      <p:pic>
        <p:nvPicPr>
          <p:cNvPr id="7170" name="Picture 2" descr="Resultado de imagen de WILL PREDIC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27" y="1796959"/>
            <a:ext cx="11964473" cy="506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921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8" name="Straight Connector 70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ectangle 72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6D59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Future predictions: be going to OR WILL?</a:t>
            </a:r>
          </a:p>
        </p:txBody>
      </p:sp>
      <p:pic>
        <p:nvPicPr>
          <p:cNvPr id="1026" name="Picture 2" descr="Boule de cristal - Prediction gratuite">
            <a:extLst>
              <a:ext uri="{FF2B5EF4-FFF2-40B4-BE49-F238E27FC236}">
                <a16:creationId xmlns:a16="http://schemas.microsoft.com/office/drawing/2014/main" id="{801C5B87-068A-45FE-8FC4-ECA1E550FD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2" r="2" b="2"/>
          <a:stretch/>
        </p:blipFill>
        <p:spPr bwMode="auto">
          <a:xfrm>
            <a:off x="327547" y="255231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Rectangle 74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9914B3-4887-411A-8918-0F1E190BD9F2}"/>
              </a:ext>
            </a:extLst>
          </p:cNvPr>
          <p:cNvSpPr txBox="1"/>
          <p:nvPr/>
        </p:nvSpPr>
        <p:spPr>
          <a:xfrm>
            <a:off x="7663543" y="917725"/>
            <a:ext cx="3790515" cy="4852362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solidFill>
                  <a:srgbClr val="FFFFFF"/>
                </a:solidFill>
              </a:rPr>
              <a:t>I THINK YOU’LL BE FAMOUS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solidFill>
                  <a:srgbClr val="FF0000"/>
                </a:solidFill>
              </a:rPr>
              <a:t>I DON’T THINK </a:t>
            </a:r>
            <a:r>
              <a:rPr lang="en-US" sz="2400" dirty="0">
                <a:solidFill>
                  <a:srgbClr val="FFFFFF"/>
                </a:solidFill>
              </a:rPr>
              <a:t>YOU’LL BE FAMOUS</a:t>
            </a:r>
          </a:p>
        </p:txBody>
      </p:sp>
    </p:spTree>
    <p:extLst>
      <p:ext uri="{BB962C8B-B14F-4D97-AF65-F5344CB8AC3E}">
        <p14:creationId xmlns:p14="http://schemas.microsoft.com/office/powerpoint/2010/main" val="240986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TIMETABLES AND OPENING HOURS – PRESENT SIMPLE</a:t>
            </a:r>
            <a:endParaRPr lang="ca-ES" dirty="0"/>
          </a:p>
        </p:txBody>
      </p:sp>
      <p:pic>
        <p:nvPicPr>
          <p:cNvPr id="9218" name="Picture 2" descr="Resultado de imagen de class timetable SCHO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24" y="2129547"/>
            <a:ext cx="6820526" cy="447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de SHOP OPENING HOU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123" y="1403798"/>
            <a:ext cx="3852527" cy="319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Resultado de imagen de TRAIN TIMETABLES HOU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333" y="1661374"/>
            <a:ext cx="4282472" cy="449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206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FUTURE FORMS</a:t>
            </a:r>
            <a:br>
              <a:rPr lang="es-ES" dirty="0"/>
            </a:b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460374" y="1796585"/>
            <a:ext cx="1128186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err="1"/>
              <a:t>Watch</a:t>
            </a:r>
            <a:r>
              <a:rPr lang="es-ES" sz="2000" dirty="0"/>
              <a:t> </a:t>
            </a:r>
            <a:r>
              <a:rPr lang="es-ES" sz="2000" dirty="0" err="1"/>
              <a:t>the</a:t>
            </a:r>
            <a:r>
              <a:rPr lang="es-ES" sz="2000" dirty="0"/>
              <a:t> </a:t>
            </a:r>
            <a:r>
              <a:rPr lang="es-ES" sz="2000" dirty="0" err="1"/>
              <a:t>following</a:t>
            </a:r>
            <a:r>
              <a:rPr lang="es-ES" sz="2000" dirty="0"/>
              <a:t> video to </a:t>
            </a:r>
            <a:r>
              <a:rPr lang="es-ES" sz="2000" dirty="0" err="1"/>
              <a:t>know</a:t>
            </a:r>
            <a:r>
              <a:rPr lang="es-ES" sz="2000" dirty="0"/>
              <a:t> more </a:t>
            </a:r>
            <a:r>
              <a:rPr lang="es-ES" sz="2000" dirty="0" err="1"/>
              <a:t>about</a:t>
            </a:r>
            <a:r>
              <a:rPr lang="es-ES" sz="2000" dirty="0"/>
              <a:t> </a:t>
            </a:r>
            <a:r>
              <a:rPr lang="es-ES" sz="2000" dirty="0" err="1"/>
              <a:t>the</a:t>
            </a:r>
            <a:r>
              <a:rPr lang="es-ES" sz="2000" dirty="0"/>
              <a:t> </a:t>
            </a:r>
            <a:r>
              <a:rPr lang="es-ES" sz="2000" dirty="0" err="1"/>
              <a:t>form</a:t>
            </a:r>
            <a:r>
              <a:rPr lang="es-ES" sz="2000" dirty="0"/>
              <a:t> BE GOING TO:</a:t>
            </a:r>
          </a:p>
          <a:p>
            <a:endParaRPr lang="es-ES" sz="2000" dirty="0"/>
          </a:p>
          <a:p>
            <a:r>
              <a:rPr lang="es-ES" sz="2000" dirty="0">
                <a:hlinkClick r:id="rId2"/>
              </a:rPr>
              <a:t>https://www.youtube.com/watch?v=qT5Ul3tMjDA</a:t>
            </a:r>
            <a:endParaRPr lang="es-ES" sz="2000" dirty="0"/>
          </a:p>
          <a:p>
            <a:endParaRPr lang="es-ES" sz="2000" dirty="0"/>
          </a:p>
          <a:p>
            <a:r>
              <a:rPr lang="es-ES" sz="2000" dirty="0" err="1"/>
              <a:t>Some</a:t>
            </a:r>
            <a:r>
              <a:rPr lang="es-ES" sz="2000" dirty="0"/>
              <a:t> more links to revise and </a:t>
            </a:r>
            <a:r>
              <a:rPr lang="es-ES" sz="2000" dirty="0" err="1"/>
              <a:t>practice</a:t>
            </a:r>
            <a:r>
              <a:rPr lang="es-ES" sz="2000" dirty="0"/>
              <a:t>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3"/>
              </a:rPr>
              <a:t>https://learnenglishteens.britishcouncil.org/grammar/intermediate-grammar/future-forms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4"/>
              </a:rPr>
              <a:t>https://learnenglish.britishcouncil.org/english-grammar-reference/talking-about-future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5"/>
              </a:rPr>
              <a:t>https://elt.oup.com/student/englishfile/intermediate/a_grammar/file01/nef_int_grammar01_c02?cc=global&amp;selLanguage=en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6"/>
              </a:rPr>
              <a:t>https://elt.oup.com/student/englishfile/intermediate/a_grammar/file01/nef_int_grammar01_c01?cc=global&amp;selLanguage=en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7"/>
              </a:rPr>
              <a:t>https://elt.oup.com/student/result/engpreint/a_grammar/unit12/12c_1?cc=global&amp;selLanguage=en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hlinkClick r:id="rId8"/>
              </a:rPr>
              <a:t>https://elt.oup.com/student/result/engpreint/a_grammar/unit12/12c_2?cc=global&amp;selLanguage=en</a:t>
            </a:r>
            <a:endParaRPr lang="es-ES" dirty="0"/>
          </a:p>
        </p:txBody>
      </p:sp>
      <p:sp>
        <p:nvSpPr>
          <p:cNvPr id="4" name="AutoShape 2" descr="Resultado de imagen de past continuous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23927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FUTURE FORMS</a:t>
            </a:r>
            <a:br>
              <a:rPr lang="es-ES" dirty="0"/>
            </a:br>
            <a:endParaRPr lang="es-ES" dirty="0"/>
          </a:p>
        </p:txBody>
      </p:sp>
      <p:sp>
        <p:nvSpPr>
          <p:cNvPr id="4" name="AutoShape 2" descr="Resultado de imagen de past continuous tim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1026" name="Picture 2" descr="Resultado de imagen de merry christm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793" y="160338"/>
            <a:ext cx="8478547" cy="635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487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THANK YOU FOR YOUR </a:t>
            </a:r>
            <a:r>
              <a:rPr lang="es-ES" dirty="0" err="1"/>
              <a:t>attention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26" name="Picture 2" descr="Resultado de imagen de goodbye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" b="30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4252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610</TotalTime>
  <Words>783</Words>
  <Application>Microsoft Office PowerPoint</Application>
  <PresentationFormat>Panorámica</PresentationFormat>
  <Paragraphs>82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Tw Cen MT</vt:lpstr>
      <vt:lpstr>Tw Cen MT Condensed</vt:lpstr>
      <vt:lpstr>Wingdings 3</vt:lpstr>
      <vt:lpstr>Integral</vt:lpstr>
      <vt:lpstr>FUTURE FORMS</vt:lpstr>
      <vt:lpstr>INDEX</vt:lpstr>
      <vt:lpstr>FUTURE TIME EXPRESSIONS</vt:lpstr>
      <vt:lpstr>Be + going to + infinitive</vt:lpstr>
      <vt:lpstr>So, What are you going to do at the weekend? WHAT ARE YOUR PLANS / INTENTIONS?</vt:lpstr>
      <vt:lpstr>PRESENT CONTINUOUS</vt:lpstr>
      <vt:lpstr>Travel Intinerary / </vt:lpstr>
      <vt:lpstr>PRESENT CONTINUOUS - PRACTICE  Which of the sentences in each pair has a future meaning? </vt:lpstr>
      <vt:lpstr>WILL / WON’T  </vt:lpstr>
      <vt:lpstr>WILL / WON’T  </vt:lpstr>
      <vt:lpstr>Future predictions: be going to OR WILL?</vt:lpstr>
      <vt:lpstr>Future predictions: be going to OR WILL?</vt:lpstr>
      <vt:lpstr>TIMETABLES AND OPENING HOURS – PRESENT SIMPLE</vt:lpstr>
      <vt:lpstr>FUTURE FORMS </vt:lpstr>
      <vt:lpstr>FUTURE FORMS 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 SIMPLE</dc:title>
  <dc:creator>Caterina Inés Latella</dc:creator>
  <cp:lastModifiedBy>Caterina Inés Latella</cp:lastModifiedBy>
  <cp:revision>62</cp:revision>
  <dcterms:created xsi:type="dcterms:W3CDTF">2018-04-20T06:14:45Z</dcterms:created>
  <dcterms:modified xsi:type="dcterms:W3CDTF">2021-02-24T18:37:01Z</dcterms:modified>
</cp:coreProperties>
</file>