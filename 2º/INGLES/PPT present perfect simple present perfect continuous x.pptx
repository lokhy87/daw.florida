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7" r:id="rId4"/>
    <p:sldId id="276" r:id="rId5"/>
    <p:sldId id="264" r:id="rId6"/>
    <p:sldId id="278" r:id="rId7"/>
    <p:sldId id="271" r:id="rId8"/>
    <p:sldId id="279" r:id="rId9"/>
    <p:sldId id="258" r:id="rId10"/>
    <p:sldId id="275" r:id="rId11"/>
    <p:sldId id="280" r:id="rId12"/>
    <p:sldId id="281" r:id="rId13"/>
    <p:sldId id="282" r:id="rId14"/>
    <p:sldId id="273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53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103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lt.oup.com/student/englishfile/preint3/grammar/file04/grammar04_a02?cc=ro&amp;selLanguage=en" TargetMode="External"/><Relationship Id="rId2" Type="http://schemas.openxmlformats.org/officeDocument/2006/relationships/hyperlink" Target="https://elt.oup.com/student/englishfile/preint3/grammar/file04/grammar04_01a?cc=ro&amp;selLanguage=en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en.islcollective.com/english-esl-worksheets/grammar/present-perfect-or-past-simple-tense/have-you-ever-speaking-cards/82747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PRESENT </a:t>
            </a:r>
            <a:r>
              <a:rPr lang="es-ES" dirty="0" err="1"/>
              <a:t>perfect</a:t>
            </a:r>
            <a:r>
              <a:rPr lang="es-ES" dirty="0"/>
              <a:t> SIMPLE /PRESENT </a:t>
            </a:r>
            <a:r>
              <a:rPr lang="es-ES" dirty="0" err="1"/>
              <a:t>perfect</a:t>
            </a:r>
            <a:r>
              <a:rPr lang="es-ES" dirty="0"/>
              <a:t> CONTINUOUS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Caterina </a:t>
            </a:r>
            <a:r>
              <a:rPr lang="es-ES" dirty="0" err="1"/>
              <a:t>Ines</a:t>
            </a:r>
            <a:r>
              <a:rPr lang="es-ES" dirty="0"/>
              <a:t> </a:t>
            </a:r>
            <a:r>
              <a:rPr lang="es-ES" dirty="0" err="1"/>
              <a:t>Latella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948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PRESENT </a:t>
            </a:r>
            <a:r>
              <a:rPr lang="es-ES" dirty="0" err="1"/>
              <a:t>perfect</a:t>
            </a:r>
            <a:r>
              <a:rPr lang="es-ES" dirty="0"/>
              <a:t> SIMPLE 	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5423" y="2279392"/>
            <a:ext cx="11196084" cy="4355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use the </a:t>
            </a:r>
            <a:r>
              <a:rPr lang="en-US" sz="2400" b="1" dirty="0"/>
              <a:t>Present Perfect Simple </a:t>
            </a:r>
            <a:r>
              <a:rPr lang="en-US" sz="2400" dirty="0"/>
              <a:t>to talk about actions that began in the past and are still continuing in the present, or actions which were completed in the past, but are still connected to the present.     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s-ES" dirty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pic>
        <p:nvPicPr>
          <p:cNvPr id="5" name="Picture 2" descr="12: Timeline: The Present Perfect Simple 2 | Download Scientific Diagram">
            <a:extLst>
              <a:ext uri="{FF2B5EF4-FFF2-40B4-BE49-F238E27FC236}">
                <a16:creationId xmlns:a16="http://schemas.microsoft.com/office/drawing/2014/main" id="{CA200353-9C70-5943-1A21-893CC543C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44" y="3763926"/>
            <a:ext cx="5653904" cy="212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024FEF5A-102B-ADE8-32F5-CFE793AC0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827" y="3187791"/>
            <a:ext cx="52387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0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57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PRESENT perfect SIMPLE FORM	</a:t>
            </a:r>
          </a:p>
        </p:txBody>
      </p:sp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im High">
            <a:extLst>
              <a:ext uri="{FF2B5EF4-FFF2-40B4-BE49-F238E27FC236}">
                <a16:creationId xmlns:a16="http://schemas.microsoft.com/office/drawing/2014/main" id="{27C83B83-8684-EE74-BA65-22D863D20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9123" y="0"/>
            <a:ext cx="8291320" cy="541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96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MORE EXAMPLES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4867" y="2203938"/>
            <a:ext cx="9720073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 err="1"/>
              <a:t>Affirmative</a:t>
            </a:r>
            <a:r>
              <a:rPr lang="es-ES" sz="3200" dirty="0"/>
              <a:t>: I </a:t>
            </a:r>
            <a:r>
              <a:rPr lang="es-ES" sz="3200" dirty="0" err="1">
                <a:solidFill>
                  <a:srgbClr val="FF0000"/>
                </a:solidFill>
              </a:rPr>
              <a:t>have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err="1">
                <a:solidFill>
                  <a:srgbClr val="FF0000"/>
                </a:solidFill>
              </a:rPr>
              <a:t>been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err="1"/>
              <a:t>ill</a:t>
            </a:r>
            <a:r>
              <a:rPr lang="es-ES" sz="3200" dirty="0"/>
              <a:t> </a:t>
            </a:r>
            <a:r>
              <a:rPr lang="es-ES" sz="3200" dirty="0" err="1"/>
              <a:t>for</a:t>
            </a:r>
            <a:r>
              <a:rPr lang="es-ES" sz="3200" dirty="0"/>
              <a:t> 10 </a:t>
            </a:r>
            <a:r>
              <a:rPr lang="es-ES" sz="3200" dirty="0" err="1"/>
              <a:t>days</a:t>
            </a:r>
            <a:r>
              <a:rPr lang="es-ES" sz="3200" dirty="0"/>
              <a:t> </a:t>
            </a:r>
            <a:endParaRPr lang="es-E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3200" b="1" dirty="0"/>
              <a:t>Negative</a:t>
            </a:r>
            <a:r>
              <a:rPr lang="es-ES" sz="3200" dirty="0"/>
              <a:t> : Mark </a:t>
            </a:r>
            <a:r>
              <a:rPr lang="es-ES" sz="3200" dirty="0" err="1">
                <a:solidFill>
                  <a:srgbClr val="FF0000"/>
                </a:solidFill>
              </a:rPr>
              <a:t>hasn’t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err="1">
                <a:solidFill>
                  <a:srgbClr val="FF0000"/>
                </a:solidFill>
              </a:rPr>
              <a:t>been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/>
              <a:t>at </a:t>
            </a:r>
            <a:r>
              <a:rPr lang="es-ES" sz="3200" dirty="0" err="1"/>
              <a:t>work</a:t>
            </a:r>
            <a:r>
              <a:rPr lang="es-ES" sz="3200" dirty="0"/>
              <a:t> </a:t>
            </a:r>
            <a:r>
              <a:rPr lang="es-ES" sz="3200" dirty="0" err="1"/>
              <a:t>for</a:t>
            </a:r>
            <a:r>
              <a:rPr lang="es-ES" sz="3200" dirty="0"/>
              <a:t> 10 </a:t>
            </a:r>
            <a:r>
              <a:rPr lang="es-ES" sz="3200" dirty="0" err="1"/>
              <a:t>days</a:t>
            </a:r>
            <a:endParaRPr lang="es-E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3200" b="1" dirty="0"/>
              <a:t>Interrogative</a:t>
            </a:r>
            <a:r>
              <a:rPr lang="es-ES" sz="3200" dirty="0"/>
              <a:t>:  </a:t>
            </a:r>
            <a:r>
              <a:rPr lang="es-ES" sz="3200" dirty="0" err="1">
                <a:solidFill>
                  <a:srgbClr val="FF0000"/>
                </a:solidFill>
              </a:rPr>
              <a:t>Have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err="1"/>
              <a:t>you</a:t>
            </a:r>
            <a:r>
              <a:rPr lang="es-ES" sz="3200" dirty="0"/>
              <a:t> </a:t>
            </a:r>
            <a:r>
              <a:rPr lang="es-ES" sz="3200" dirty="0" err="1">
                <a:solidFill>
                  <a:srgbClr val="FF0000"/>
                </a:solidFill>
              </a:rPr>
              <a:t>been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err="1"/>
              <a:t>ill</a:t>
            </a:r>
            <a:r>
              <a:rPr lang="es-ES" sz="3200" dirty="0"/>
              <a:t>?</a:t>
            </a:r>
          </a:p>
          <a:p>
            <a:pPr marL="0" indent="0">
              <a:buNone/>
            </a:pPr>
            <a:r>
              <a:rPr lang="es-ES" sz="3200" b="1" dirty="0"/>
              <a:t> Short </a:t>
            </a:r>
            <a:r>
              <a:rPr lang="es-ES" sz="3200" b="1" dirty="0" err="1"/>
              <a:t>answers</a:t>
            </a:r>
            <a:r>
              <a:rPr lang="es-ES" sz="3200" b="1" dirty="0"/>
              <a:t>:</a:t>
            </a:r>
            <a:endParaRPr lang="es-ES" sz="3200" dirty="0">
              <a:solidFill>
                <a:srgbClr val="FF0000"/>
              </a:solidFill>
            </a:endParaRPr>
          </a:p>
          <a:p>
            <a:r>
              <a:rPr lang="es-ES" sz="3200" dirty="0"/>
              <a:t>-</a:t>
            </a: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/>
              <a:t>Yes, </a:t>
            </a:r>
            <a:r>
              <a:rPr lang="es-ES" sz="3200" dirty="0">
                <a:solidFill>
                  <a:srgbClr val="FF0000"/>
                </a:solidFill>
              </a:rPr>
              <a:t>I </a:t>
            </a:r>
            <a:r>
              <a:rPr lang="es-ES" sz="3200" dirty="0" err="1">
                <a:solidFill>
                  <a:srgbClr val="FF0000"/>
                </a:solidFill>
              </a:rPr>
              <a:t>have</a:t>
            </a:r>
            <a:r>
              <a:rPr lang="es-ES" sz="3200" dirty="0">
                <a:solidFill>
                  <a:srgbClr val="FF0000"/>
                </a:solidFill>
              </a:rPr>
              <a:t>.</a:t>
            </a:r>
          </a:p>
          <a:p>
            <a:r>
              <a:rPr lang="es-ES" sz="3200" dirty="0"/>
              <a:t>- No, I </a:t>
            </a:r>
            <a:r>
              <a:rPr lang="es-ES" sz="3200" dirty="0" err="1">
                <a:solidFill>
                  <a:srgbClr val="FF0000"/>
                </a:solidFill>
              </a:rPr>
              <a:t>haven’t</a:t>
            </a:r>
            <a:r>
              <a:rPr lang="es-ES" sz="3200" dirty="0">
                <a:solidFill>
                  <a:srgbClr val="FF0000"/>
                </a:solidFill>
              </a:rPr>
              <a:t>.</a:t>
            </a: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3506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s-ES" dirty="0"/>
              <a:t>PRACTICE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9730" y="1913860"/>
            <a:ext cx="6591216" cy="439550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u="sng" dirty="0"/>
              <a:t>Ask questions in the present perfect  using the following verb phrases</a:t>
            </a:r>
          </a:p>
          <a:p>
            <a:r>
              <a:rPr lang="en-US" sz="2000" i="1" dirty="0"/>
              <a:t>Ex.  have a cold (recently)   &gt;      </a:t>
            </a:r>
            <a:r>
              <a:rPr lang="en-US" sz="2000" i="1" dirty="0">
                <a:solidFill>
                  <a:srgbClr val="FF0000"/>
                </a:solidFill>
              </a:rPr>
              <a:t>Have </a:t>
            </a:r>
            <a:r>
              <a:rPr lang="en-US" sz="2000" i="1" dirty="0"/>
              <a:t>you </a:t>
            </a:r>
            <a:r>
              <a:rPr lang="en-US" sz="2000" i="1" dirty="0">
                <a:solidFill>
                  <a:srgbClr val="FF0000"/>
                </a:solidFill>
              </a:rPr>
              <a:t>had </a:t>
            </a:r>
            <a:r>
              <a:rPr lang="en-US" sz="2000" i="1" dirty="0"/>
              <a:t>a cold recently?</a:t>
            </a:r>
          </a:p>
          <a:p>
            <a:r>
              <a:rPr lang="en-US" sz="2000" dirty="0"/>
              <a:t>- take medication (lately)   &gt; </a:t>
            </a:r>
            <a:r>
              <a:rPr lang="en-US" sz="2000" i="1" dirty="0">
                <a:solidFill>
                  <a:srgbClr val="FF0000"/>
                </a:solidFill>
              </a:rPr>
              <a:t>Have </a:t>
            </a:r>
            <a:r>
              <a:rPr lang="en-US" sz="2000" i="1" dirty="0"/>
              <a:t>you </a:t>
            </a:r>
            <a:r>
              <a:rPr lang="en-US" sz="2000" i="1" dirty="0">
                <a:solidFill>
                  <a:srgbClr val="FF0000"/>
                </a:solidFill>
              </a:rPr>
              <a:t>taken </a:t>
            </a:r>
            <a:r>
              <a:rPr lang="en-US" sz="2000" i="1" dirty="0"/>
              <a:t>medication lately?</a:t>
            </a:r>
            <a:endParaRPr lang="en-US" sz="2000" dirty="0"/>
          </a:p>
          <a:p>
            <a:r>
              <a:rPr lang="en-US" sz="2000" dirty="0"/>
              <a:t>- have a routine checkup (recently)</a:t>
            </a:r>
          </a:p>
          <a:p>
            <a:r>
              <a:rPr lang="en-US" sz="2000" dirty="0"/>
              <a:t>- take someone’s temperature </a:t>
            </a:r>
          </a:p>
          <a:p>
            <a:r>
              <a:rPr lang="en-US" sz="2000" dirty="0"/>
              <a:t>- catch the flu </a:t>
            </a:r>
          </a:p>
          <a:p>
            <a:r>
              <a:rPr lang="en-US" sz="2000" dirty="0"/>
              <a:t>- have a headache </a:t>
            </a:r>
          </a:p>
          <a:p>
            <a:r>
              <a:rPr lang="en-US" sz="2000" dirty="0"/>
              <a:t>- rest enough </a:t>
            </a:r>
          </a:p>
          <a:p>
            <a:r>
              <a:rPr lang="en-US" sz="2000" dirty="0"/>
              <a:t>- see a doctor </a:t>
            </a:r>
          </a:p>
          <a:p>
            <a:r>
              <a:rPr lang="en-US" sz="2000" dirty="0"/>
              <a:t>- speak to a nurse</a:t>
            </a:r>
            <a:endParaRPr lang="es-ES" sz="20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</p:txBody>
      </p:sp>
      <p:pic>
        <p:nvPicPr>
          <p:cNvPr id="5" name="Picture 4" descr="Desk with stethoscope and computer keyboard">
            <a:extLst>
              <a:ext uri="{FF2B5EF4-FFF2-40B4-BE49-F238E27FC236}">
                <a16:creationId xmlns:a16="http://schemas.microsoft.com/office/drawing/2014/main" id="{82BD8F37-0178-7DD7-5744-56DFBB5C17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841" r="-1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1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present</a:t>
            </a:r>
            <a:r>
              <a:rPr lang="es-ES" dirty="0"/>
              <a:t> </a:t>
            </a:r>
            <a:r>
              <a:rPr lang="es-ES" dirty="0" err="1"/>
              <a:t>perfect</a:t>
            </a:r>
            <a:r>
              <a:rPr lang="es-ES" dirty="0"/>
              <a:t> ….	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46975" y="2286000"/>
            <a:ext cx="10895525" cy="4023360"/>
          </a:xfrm>
        </p:spPr>
        <p:txBody>
          <a:bodyPr>
            <a:normAutofit/>
          </a:bodyPr>
          <a:lstStyle/>
          <a:p>
            <a:endParaRPr lang="es-ES" sz="3200" dirty="0">
              <a:solidFill>
                <a:srgbClr val="FF0000"/>
              </a:solidFill>
            </a:endParaRPr>
          </a:p>
          <a:p>
            <a:endParaRPr lang="es-ES" sz="3200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A35B72E-C570-BA56-3A6C-09E623E47C1D}"/>
              </a:ext>
            </a:extLst>
          </p:cNvPr>
          <p:cNvSpPr txBox="1">
            <a:spLocks/>
          </p:cNvSpPr>
          <p:nvPr/>
        </p:nvSpPr>
        <p:spPr>
          <a:xfrm>
            <a:off x="839973" y="1722473"/>
            <a:ext cx="9452344" cy="4848447"/>
          </a:xfrm>
          <a:prstGeom prst="rect">
            <a:avLst/>
          </a:prstGeom>
        </p:spPr>
        <p:txBody>
          <a:bodyPr vert="horz" lIns="45720" tIns="45720" rIns="45720" bIns="45720" rtlCol="0" anchor="ctr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sz="3400" b="1" dirty="0"/>
              <a:t>To talk about EXPERIENCES in life (</a:t>
            </a:r>
            <a:r>
              <a:rPr lang="en-US" sz="3400" b="1" i="1" dirty="0"/>
              <a:t>so far, up to  now</a:t>
            </a:r>
            <a:r>
              <a:rPr lang="en-US" sz="3400" b="1" dirty="0"/>
              <a:t>)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3400" dirty="0"/>
              <a:t>      Ex. I’ve been </a:t>
            </a:r>
            <a:r>
              <a:rPr lang="en-US" sz="3400" b="1" u="sng" dirty="0"/>
              <a:t>to</a:t>
            </a:r>
            <a:r>
              <a:rPr lang="en-US" sz="3400" dirty="0"/>
              <a:t> Berlin</a:t>
            </a:r>
            <a:r>
              <a:rPr lang="en-US" sz="3400" dirty="0">
                <a:solidFill>
                  <a:srgbClr val="FF0000"/>
                </a:solidFill>
              </a:rPr>
              <a:t>**</a:t>
            </a:r>
            <a:r>
              <a:rPr lang="en-US" sz="3400" dirty="0"/>
              <a:t> / I’ve travelled by plane twice</a:t>
            </a:r>
            <a:endParaRPr lang="es-ES" sz="3400" dirty="0"/>
          </a:p>
          <a:p>
            <a:endParaRPr lang="en-US" sz="3400" dirty="0"/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3400" dirty="0"/>
              <a:t>   - </a:t>
            </a:r>
            <a:r>
              <a:rPr lang="en-US" sz="3400" b="1" dirty="0"/>
              <a:t>To talk about FINISHED ACTIONS but with NO time reference</a:t>
            </a:r>
            <a:endParaRPr lang="es-ES" sz="3400" b="1" dirty="0"/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3400" dirty="0"/>
              <a:t>        Ex. I’ve seen this film         </a:t>
            </a:r>
          </a:p>
          <a:p>
            <a:pPr marL="0" indent="0">
              <a:buFont typeface="Tw Cen MT" panose="020B0602020104020603" pitchFamily="34" charset="0"/>
              <a:buNone/>
            </a:pPr>
            <a:r>
              <a:rPr lang="en-US" sz="3400" dirty="0"/>
              <a:t>   but “I saw this film </a:t>
            </a:r>
            <a:r>
              <a:rPr lang="en-US" sz="3400" u="sng" dirty="0"/>
              <a:t>yesterday”</a:t>
            </a:r>
            <a:r>
              <a:rPr lang="en-US" sz="3400" dirty="0"/>
              <a:t> (we use the </a:t>
            </a:r>
            <a:r>
              <a:rPr lang="en-US" sz="3400" b="1" dirty="0"/>
              <a:t>past simple </a:t>
            </a:r>
            <a:r>
              <a:rPr lang="en-US" sz="3400" dirty="0"/>
              <a:t>here)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** </a:t>
            </a:r>
            <a:r>
              <a:rPr lang="en-US" sz="24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Be careful to the preposition after the verb: </a:t>
            </a:r>
          </a:p>
          <a:p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 has been </a:t>
            </a:r>
            <a:r>
              <a:rPr lang="en-US" sz="24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Mexico (gone and come back) 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dirty="0"/>
              <a:t>  M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ark has </a:t>
            </a:r>
            <a:r>
              <a:rPr lang="en-US" sz="24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gone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Mexico (he is still there)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793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how long…….?  + (for/since)</a:t>
            </a:r>
          </a:p>
        </p:txBody>
      </p:sp>
      <p:sp>
        <p:nvSpPr>
          <p:cNvPr id="3" name="Marcador de contenido 2"/>
          <p:cNvSpPr>
            <a:spLocks/>
          </p:cNvSpPr>
          <p:nvPr/>
        </p:nvSpPr>
        <p:spPr>
          <a:xfrm>
            <a:off x="5603875" y="2425099"/>
            <a:ext cx="5641975" cy="2083397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233172">
              <a:spcAft>
                <a:spcPts val="600"/>
              </a:spcAft>
            </a:pPr>
            <a:endParaRPr lang="es-ES" sz="1632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1632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918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918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918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s-E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841A457-0C1D-AA80-1D42-471951170B64}"/>
              </a:ext>
            </a:extLst>
          </p:cNvPr>
          <p:cNvSpPr txBox="1">
            <a:spLocks/>
          </p:cNvSpPr>
          <p:nvPr/>
        </p:nvSpPr>
        <p:spPr>
          <a:xfrm>
            <a:off x="4848448" y="1073888"/>
            <a:ext cx="6700084" cy="4965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147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talk about the duration of an action, but with non-action verbs (except ‘work’, ‘live’)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</a:t>
            </a:r>
            <a:r>
              <a:rPr lang="en-US" sz="2400" i="1" dirty="0"/>
              <a:t>amples 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24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long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you </a:t>
            </a:r>
            <a:r>
              <a:rPr lang="en-US" sz="2400" i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had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car? 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dirty="0"/>
              <a:t> 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had my car </a:t>
            </a:r>
            <a:r>
              <a:rPr lang="en-US" sz="24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FOR</a:t>
            </a:r>
            <a:r>
              <a:rPr lang="en-US" sz="24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 years (= </a:t>
            </a:r>
            <a:r>
              <a:rPr lang="en-US" sz="2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desde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hace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I’ve had my car </a:t>
            </a:r>
            <a:r>
              <a:rPr lang="en-US" sz="24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SINCE</a:t>
            </a:r>
            <a:r>
              <a:rPr lang="en-US" sz="24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2012  (= </a:t>
            </a:r>
            <a:r>
              <a:rPr lang="en-US" sz="2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desde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46634" indent="-46634" defTabSz="466344">
              <a:spcBef>
                <a:spcPts val="612"/>
              </a:spcBef>
              <a:spcAft>
                <a:spcPts val="102"/>
              </a:spcAft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Or 	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I’ve worked here for 5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29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HAVE YOU EVER…….?  </a:t>
            </a:r>
          </a:p>
        </p:txBody>
      </p:sp>
      <p:sp>
        <p:nvSpPr>
          <p:cNvPr id="3" name="Marcador de contenido 2"/>
          <p:cNvSpPr>
            <a:spLocks/>
          </p:cNvSpPr>
          <p:nvPr/>
        </p:nvSpPr>
        <p:spPr>
          <a:xfrm>
            <a:off x="5603875" y="2675158"/>
            <a:ext cx="5641975" cy="2083396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233172">
              <a:spcAft>
                <a:spcPts val="600"/>
              </a:spcAft>
            </a:pPr>
            <a:endParaRPr lang="es-ES" sz="1632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1632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918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918" kern="120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defTabSz="233172">
              <a:spcAft>
                <a:spcPts val="600"/>
              </a:spcAft>
            </a:pPr>
            <a:endParaRPr lang="es-ES" sz="918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s-ES"/>
          </a:p>
        </p:txBody>
      </p:sp>
      <p:sp>
        <p:nvSpPr>
          <p:cNvPr id="4" name="Marcador de contenido 4">
            <a:extLst>
              <a:ext uri="{FF2B5EF4-FFF2-40B4-BE49-F238E27FC236}">
                <a16:creationId xmlns:a16="http://schemas.microsoft.com/office/drawing/2014/main" id="{F1868927-D109-4EAB-E2F9-AA1ECA7C865A}"/>
              </a:ext>
            </a:extLst>
          </p:cNvPr>
          <p:cNvSpPr txBox="1">
            <a:spLocks/>
          </p:cNvSpPr>
          <p:nvPr/>
        </p:nvSpPr>
        <p:spPr>
          <a:xfrm>
            <a:off x="5014756" y="563526"/>
            <a:ext cx="6189450" cy="5411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147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ASK about something that happened in life </a:t>
            </a:r>
          </a:p>
          <a:p>
            <a:pPr marL="29147" indent="0" defTabSz="466344">
              <a:spcBef>
                <a:spcPts val="612"/>
              </a:spcBef>
              <a:spcAft>
                <a:spcPts val="102"/>
              </a:spcAft>
              <a:buNone/>
            </a:pPr>
            <a:endParaRPr lang="en-US" sz="34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9147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 </a:t>
            </a:r>
            <a:r>
              <a:rPr lang="en-US" sz="34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you ever + past participle  -….</a:t>
            </a:r>
            <a:endParaRPr lang="en-US" sz="34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Have you </a:t>
            </a:r>
            <a:r>
              <a:rPr lang="en-US" sz="34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EVER </a:t>
            </a:r>
            <a:r>
              <a:rPr lang="en-US" sz="3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travelled by helicopter? 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Yes, I have / No, I haven’t</a:t>
            </a:r>
            <a:endParaRPr lang="en-US" sz="3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634" indent="-46634" defTabSz="466344">
              <a:spcBef>
                <a:spcPts val="612"/>
              </a:spcBef>
              <a:spcAft>
                <a:spcPts val="102"/>
              </a:spcAft>
            </a:pPr>
            <a:endParaRPr lang="en-US" sz="3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634" indent="-46634" defTabSz="466344">
              <a:spcBef>
                <a:spcPts val="612"/>
              </a:spcBef>
              <a:spcAft>
                <a:spcPts val="102"/>
              </a:spcAft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dirty="0">
                <a:solidFill>
                  <a:srgbClr val="B30000"/>
                </a:solidFill>
              </a:rPr>
              <a:t>…..seen a solar eclipse?</a:t>
            </a:r>
            <a:endParaRPr lang="en-US" sz="2400" i="1" kern="1200" dirty="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2400" i="1" dirty="0">
                <a:solidFill>
                  <a:srgbClr val="B30000"/>
                </a:solidFill>
              </a:rPr>
              <a:t>…..been to the desert?</a:t>
            </a:r>
            <a:endParaRPr lang="en-US" sz="2400" i="1" kern="1200" dirty="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endParaRPr lang="en-US" sz="2400" i="1" kern="1200" dirty="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endParaRPr lang="en-US" sz="2400" i="1" kern="1200" dirty="0">
              <a:solidFill>
                <a:srgbClr val="B30000"/>
              </a:solidFill>
              <a:latin typeface="+mn-lt"/>
              <a:ea typeface="+mn-ea"/>
              <a:cs typeface="+mn-cs"/>
            </a:endParaRP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8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Be careful to the preposition after the verb: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8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 has been </a:t>
            </a:r>
            <a:r>
              <a:rPr lang="en-US" sz="38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38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Mexico (gone and come back)</a:t>
            </a:r>
          </a:p>
          <a:p>
            <a:pPr marL="0" indent="0" defTabSz="466344">
              <a:spcBef>
                <a:spcPts val="612"/>
              </a:spcBef>
              <a:spcAft>
                <a:spcPts val="102"/>
              </a:spcAft>
              <a:buNone/>
            </a:pPr>
            <a:r>
              <a:rPr lang="en-US" sz="3800" i="1" dirty="0"/>
              <a:t>M</a:t>
            </a:r>
            <a:r>
              <a:rPr lang="en-US" sz="38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ark has </a:t>
            </a:r>
            <a:r>
              <a:rPr lang="en-US" sz="38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gone</a:t>
            </a:r>
            <a:r>
              <a:rPr lang="en-US" sz="38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800" i="1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38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Mexico (he is still there)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4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just/already/YET   </a:t>
            </a:r>
          </a:p>
        </p:txBody>
      </p:sp>
      <p:sp>
        <p:nvSpPr>
          <p:cNvPr id="14" name="Marcador de contenido 4">
            <a:extLst>
              <a:ext uri="{FF2B5EF4-FFF2-40B4-BE49-F238E27FC236}">
                <a16:creationId xmlns:a16="http://schemas.microsoft.com/office/drawing/2014/main" id="{C98C50BD-E21C-AC06-0CA8-EB9DCE70EAAF}"/>
              </a:ext>
            </a:extLst>
          </p:cNvPr>
          <p:cNvSpPr txBox="1">
            <a:spLocks/>
          </p:cNvSpPr>
          <p:nvPr/>
        </p:nvSpPr>
        <p:spPr>
          <a:xfrm>
            <a:off x="1024128" y="1998921"/>
            <a:ext cx="6376132" cy="421899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w Cen MT" panose="020B0602020104020603" pitchFamily="34" charset="0"/>
              <a:buNone/>
            </a:pPr>
            <a:r>
              <a:rPr lang="en-US" sz="1700" b="1" dirty="0">
                <a:highlight>
                  <a:srgbClr val="FFFF00"/>
                </a:highlight>
              </a:rPr>
              <a:t>JUST / ALREADY </a:t>
            </a:r>
            <a:r>
              <a:rPr lang="en-US" sz="1700" b="1" dirty="0"/>
              <a:t>(affirmative sentences)</a:t>
            </a:r>
          </a:p>
          <a:p>
            <a:pPr marL="173736" lvl="1"/>
            <a:r>
              <a:rPr lang="en-US" sz="1700" dirty="0"/>
              <a:t>Ex. </a:t>
            </a:r>
            <a:r>
              <a:rPr lang="en-US" sz="1700" i="1" dirty="0"/>
              <a:t>I’ve </a:t>
            </a:r>
            <a:r>
              <a:rPr lang="en-US" sz="1700" b="1" i="1" dirty="0"/>
              <a:t>just</a:t>
            </a:r>
            <a:r>
              <a:rPr lang="en-US" sz="1700" i="1" dirty="0"/>
              <a:t> had a coffee </a:t>
            </a:r>
            <a:r>
              <a:rPr lang="en-US" sz="1700" dirty="0"/>
              <a:t>(</a:t>
            </a:r>
            <a:r>
              <a:rPr lang="en-US" sz="1700" b="1" dirty="0" err="1"/>
              <a:t>Acabo</a:t>
            </a:r>
            <a:r>
              <a:rPr lang="en-US" sz="1700" b="1" dirty="0"/>
              <a:t> de </a:t>
            </a:r>
            <a:r>
              <a:rPr lang="en-US" sz="1700" dirty="0" err="1"/>
              <a:t>tomarme</a:t>
            </a:r>
            <a:r>
              <a:rPr lang="en-US" sz="1700" dirty="0"/>
              <a:t> un café)</a:t>
            </a:r>
          </a:p>
          <a:p>
            <a:pPr marL="0"/>
            <a:r>
              <a:rPr lang="en-US" sz="1700" dirty="0"/>
              <a:t>      Ex. </a:t>
            </a:r>
            <a:r>
              <a:rPr lang="en-US" sz="1700" i="1" dirty="0"/>
              <a:t>I’ve </a:t>
            </a:r>
            <a:r>
              <a:rPr lang="en-US" sz="1700" b="1" i="1" dirty="0"/>
              <a:t>already</a:t>
            </a:r>
            <a:r>
              <a:rPr lang="en-US" sz="1700" i="1" dirty="0"/>
              <a:t> had a coffee </a:t>
            </a:r>
            <a:r>
              <a:rPr lang="en-US" sz="1700" dirty="0"/>
              <a:t>(</a:t>
            </a:r>
            <a:r>
              <a:rPr lang="en-US" sz="1700" b="1" dirty="0"/>
              <a:t>Ya </a:t>
            </a:r>
            <a:r>
              <a:rPr lang="en-US" sz="1700" dirty="0"/>
              <a:t>me he </a:t>
            </a:r>
            <a:r>
              <a:rPr lang="en-US" sz="1700" dirty="0" err="1"/>
              <a:t>tomado</a:t>
            </a:r>
            <a:r>
              <a:rPr lang="en-US" sz="1700" dirty="0"/>
              <a:t> un café)</a:t>
            </a:r>
          </a:p>
          <a:p>
            <a:pPr marL="0"/>
            <a:r>
              <a:rPr lang="en-US" sz="1700" dirty="0"/>
              <a:t>	</a:t>
            </a:r>
          </a:p>
          <a:p>
            <a:pPr marL="57150" indent="0">
              <a:buFont typeface="Tw Cen MT" panose="020B0602020104020603" pitchFamily="34" charset="0"/>
              <a:buNone/>
            </a:pPr>
            <a:r>
              <a:rPr lang="en-US" sz="1700" b="1" dirty="0">
                <a:highlight>
                  <a:srgbClr val="FFFF00"/>
                </a:highlight>
              </a:rPr>
              <a:t>YET</a:t>
            </a:r>
            <a:r>
              <a:rPr lang="en-US" sz="1700" b="1" dirty="0"/>
              <a:t> (questions and negative sentences)</a:t>
            </a:r>
          </a:p>
          <a:p>
            <a:pPr marL="0"/>
            <a:r>
              <a:rPr lang="en-US" sz="1700" b="1" dirty="0"/>
              <a:t>      </a:t>
            </a:r>
            <a:r>
              <a:rPr lang="en-US" sz="1700" dirty="0"/>
              <a:t>Ex. </a:t>
            </a:r>
            <a:r>
              <a:rPr lang="en-US" sz="1700" i="1" dirty="0"/>
              <a:t>Have you had a coffee </a:t>
            </a:r>
            <a:r>
              <a:rPr lang="en-US" sz="1700" b="1" i="1" dirty="0"/>
              <a:t>yet</a:t>
            </a:r>
            <a:r>
              <a:rPr lang="en-US" sz="1700" i="1" dirty="0"/>
              <a:t>? </a:t>
            </a:r>
            <a:r>
              <a:rPr lang="en-US" sz="1700" dirty="0"/>
              <a:t>(¿</a:t>
            </a:r>
            <a:r>
              <a:rPr lang="en-US" sz="1700" b="1" dirty="0" err="1"/>
              <a:t>Todavía</a:t>
            </a:r>
            <a:r>
              <a:rPr lang="en-US" sz="1700" b="1" dirty="0"/>
              <a:t>/</a:t>
            </a:r>
            <a:r>
              <a:rPr lang="en-US" sz="1700" b="1" dirty="0" err="1"/>
              <a:t>aún</a:t>
            </a:r>
            <a:r>
              <a:rPr lang="en-US" sz="1700" b="1" dirty="0"/>
              <a:t> </a:t>
            </a:r>
            <a:r>
              <a:rPr lang="en-US" sz="1700" dirty="0"/>
              <a:t>no has </a:t>
            </a:r>
            <a:r>
              <a:rPr lang="en-US" sz="1700" dirty="0" err="1"/>
              <a:t>tomado</a:t>
            </a:r>
            <a:r>
              <a:rPr lang="en-US" sz="1700" dirty="0"/>
              <a:t> un café?)</a:t>
            </a:r>
          </a:p>
          <a:p>
            <a:pPr marL="0"/>
            <a:r>
              <a:rPr lang="en-US" sz="1700" dirty="0"/>
              <a:t>          </a:t>
            </a:r>
            <a:r>
              <a:rPr lang="en-US" sz="1700" i="1" dirty="0"/>
              <a:t>I haven’t had a coffee </a:t>
            </a:r>
            <a:r>
              <a:rPr lang="en-US" sz="1700" b="1" i="1" dirty="0"/>
              <a:t>yet</a:t>
            </a:r>
            <a:r>
              <a:rPr lang="en-US" sz="1700" i="1" dirty="0"/>
              <a:t> </a:t>
            </a:r>
            <a:r>
              <a:rPr lang="en-US" sz="1700" dirty="0"/>
              <a:t>(</a:t>
            </a:r>
            <a:r>
              <a:rPr lang="en-US" sz="1700" b="1" dirty="0" err="1"/>
              <a:t>Aún</a:t>
            </a:r>
            <a:r>
              <a:rPr lang="en-US" sz="1700" b="1" dirty="0"/>
              <a:t>/</a:t>
            </a:r>
            <a:r>
              <a:rPr lang="en-US" sz="1700" b="1" dirty="0" err="1"/>
              <a:t>Todavía</a:t>
            </a:r>
            <a:r>
              <a:rPr lang="en-US" sz="1700" b="1" dirty="0"/>
              <a:t> </a:t>
            </a:r>
            <a:r>
              <a:rPr lang="en-US" sz="1700" dirty="0"/>
              <a:t>no me he </a:t>
            </a:r>
            <a:r>
              <a:rPr lang="en-US" sz="1700" dirty="0" err="1"/>
              <a:t>tomado</a:t>
            </a:r>
            <a:r>
              <a:rPr lang="en-US" sz="1700" dirty="0"/>
              <a:t> </a:t>
            </a:r>
            <a:r>
              <a:rPr lang="en-US" sz="1700" dirty="0" err="1"/>
              <a:t>el</a:t>
            </a:r>
            <a:r>
              <a:rPr lang="en-US" sz="1700" dirty="0"/>
              <a:t> café)</a:t>
            </a:r>
          </a:p>
        </p:txBody>
      </p:sp>
      <p:pic>
        <p:nvPicPr>
          <p:cNvPr id="15" name="Picture 5" descr="Tray of takeaway coffees">
            <a:extLst>
              <a:ext uri="{FF2B5EF4-FFF2-40B4-BE49-F238E27FC236}">
                <a16:creationId xmlns:a16="http://schemas.microsoft.com/office/drawing/2014/main" id="{186858D9-4122-C7C4-AEBA-043BBFF31D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34" r="28403" b="1"/>
          <a:stretch/>
        </p:blipFill>
        <p:spPr>
          <a:xfrm>
            <a:off x="7552267" y="640080"/>
            <a:ext cx="3999654" cy="5577840"/>
          </a:xfrm>
          <a:prstGeom prst="rect">
            <a:avLst/>
          </a:prstGeom>
        </p:spPr>
      </p:pic>
      <p:pic>
        <p:nvPicPr>
          <p:cNvPr id="9" name="Gráfico 8" descr="Agregar con relleno sólido">
            <a:extLst>
              <a:ext uri="{FF2B5EF4-FFF2-40B4-BE49-F238E27FC236}">
                <a16:creationId xmlns:a16="http://schemas.microsoft.com/office/drawing/2014/main" id="{93B23586-9D05-4717-CDEE-568AD86B4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" y="2163726"/>
            <a:ext cx="914400" cy="914400"/>
          </a:xfrm>
          <a:prstGeom prst="rect">
            <a:avLst/>
          </a:prstGeom>
        </p:spPr>
      </p:pic>
      <p:pic>
        <p:nvPicPr>
          <p:cNvPr id="13" name="Gráfico 12" descr="Insignia Desplegada contorno">
            <a:extLst>
              <a:ext uri="{FF2B5EF4-FFF2-40B4-BE49-F238E27FC236}">
                <a16:creationId xmlns:a16="http://schemas.microsoft.com/office/drawing/2014/main" id="{55F75A0A-F9B1-4363-2363-01E7111D0F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879" y="3651220"/>
            <a:ext cx="914400" cy="914400"/>
          </a:xfrm>
          <a:prstGeom prst="rect">
            <a:avLst/>
          </a:prstGeom>
        </p:spPr>
      </p:pic>
      <p:pic>
        <p:nvPicPr>
          <p:cNvPr id="17" name="Gráfico 16" descr="Signo de interrogación con relleno sólido">
            <a:extLst>
              <a:ext uri="{FF2B5EF4-FFF2-40B4-BE49-F238E27FC236}">
                <a16:creationId xmlns:a16="http://schemas.microsoft.com/office/drawing/2014/main" id="{DF8A15A5-1C73-E712-FB03-A72BD1D5F4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879" y="4108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1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PRESENT </a:t>
            </a:r>
            <a:r>
              <a:rPr lang="es-ES" dirty="0" err="1"/>
              <a:t>perfect</a:t>
            </a:r>
            <a:r>
              <a:rPr lang="es-ES" dirty="0"/>
              <a:t> </a:t>
            </a:r>
            <a:r>
              <a:rPr lang="es-ES" dirty="0" err="1"/>
              <a:t>continuous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1752600" y="2844800"/>
            <a:ext cx="94361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000" dirty="0"/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AF7AED-B039-CF12-4687-FBE3A2FE53B8}"/>
              </a:ext>
            </a:extLst>
          </p:cNvPr>
          <p:cNvSpPr txBox="1"/>
          <p:nvPr/>
        </p:nvSpPr>
        <p:spPr>
          <a:xfrm>
            <a:off x="671623" y="1796903"/>
            <a:ext cx="1115178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 use the Present Perfect Continuous to show that an action that began in the past is still continuing (</a:t>
            </a:r>
            <a:r>
              <a:rPr lang="en-US" sz="3200" dirty="0" err="1"/>
              <a:t>llevar</a:t>
            </a:r>
            <a:r>
              <a:rPr lang="en-US" sz="3200" dirty="0"/>
              <a:t> </a:t>
            </a:r>
            <a:r>
              <a:rPr lang="en-US" sz="3200" dirty="0" err="1"/>
              <a:t>haciendo</a:t>
            </a:r>
            <a:r>
              <a:rPr lang="en-US" sz="3200" dirty="0"/>
              <a:t> algo…).</a:t>
            </a:r>
          </a:p>
          <a:p>
            <a:endParaRPr lang="en-US" sz="3200" dirty="0"/>
          </a:p>
          <a:p>
            <a:r>
              <a:rPr lang="en-US" sz="2500" dirty="0"/>
              <a:t>Examples:</a:t>
            </a:r>
          </a:p>
          <a:p>
            <a:r>
              <a:rPr lang="en-US" sz="2500" dirty="0"/>
              <a:t>- She has been sleeping all day. (She started sleeping in the past. She is still sleeping at the moment.) </a:t>
            </a:r>
          </a:p>
          <a:p>
            <a:endParaRPr lang="en-US" sz="2500" dirty="0"/>
          </a:p>
          <a:p>
            <a:r>
              <a:rPr lang="en-US" sz="2500" dirty="0"/>
              <a:t>- The nurse has been visiting the patients. (The nurse began visiting the patients some time ago. She is still visiting them.) </a:t>
            </a:r>
          </a:p>
          <a:p>
            <a:endParaRPr lang="en-US" sz="2500" dirty="0"/>
          </a:p>
          <a:p>
            <a:r>
              <a:rPr lang="en-US" sz="2500" dirty="0"/>
              <a:t>- I have been waiting to see a doctor for two hours. (I am still waiting.)</a:t>
            </a: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27166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8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 perfect continuous</a:t>
            </a:r>
          </a:p>
        </p:txBody>
      </p:sp>
      <p:pic>
        <p:nvPicPr>
          <p:cNvPr id="3074" name="Picture 2" descr="Present Perfect Continuous timeline, form, uses - Learn English">
            <a:extLst>
              <a:ext uri="{FF2B5EF4-FFF2-40B4-BE49-F238E27FC236}">
                <a16:creationId xmlns:a16="http://schemas.microsoft.com/office/drawing/2014/main" id="{B4166D36-A45C-2FDB-1784-8BA7D8B54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196" y="640080"/>
            <a:ext cx="10853804" cy="330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9" name="Straight Connector 3088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/>
          <p:cNvSpPr txBox="1"/>
          <p:nvPr/>
        </p:nvSpPr>
        <p:spPr>
          <a:xfrm>
            <a:off x="1752600" y="2844800"/>
            <a:ext cx="94361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s-ES" sz="2000"/>
          </a:p>
          <a:p>
            <a:pPr>
              <a:spcAft>
                <a:spcPts val="600"/>
              </a:spcAft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11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0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09" name="Rectangle 4108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PRESENT perfect continuous</a:t>
            </a:r>
          </a:p>
        </p:txBody>
      </p:sp>
      <p:cxnSp>
        <p:nvCxnSpPr>
          <p:cNvPr id="4111" name="Straight Connector 4110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Present perfect simple and present perfect continuous - Test-English">
            <a:extLst>
              <a:ext uri="{FF2B5EF4-FFF2-40B4-BE49-F238E27FC236}">
                <a16:creationId xmlns:a16="http://schemas.microsoft.com/office/drawing/2014/main" id="{133AA686-1AAE-A48A-50A0-DF10F3520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0042" y="180757"/>
            <a:ext cx="6538672" cy="653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1752600" y="2844800"/>
            <a:ext cx="94361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s-ES" sz="2000"/>
          </a:p>
          <a:p>
            <a:pPr>
              <a:spcAft>
                <a:spcPts val="600"/>
              </a:spcAft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284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Present perfect simple or continuous - Test-English">
            <a:extLst>
              <a:ext uri="{FF2B5EF4-FFF2-40B4-BE49-F238E27FC236}">
                <a16:creationId xmlns:a16="http://schemas.microsoft.com/office/drawing/2014/main" id="{A0DA4C67-9150-2534-CDF7-B30656867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1601" y="804333"/>
            <a:ext cx="9448795" cy="52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1752600" y="2844800"/>
            <a:ext cx="94361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s-ES" sz="2000"/>
          </a:p>
          <a:p>
            <a:pPr>
              <a:spcAft>
                <a:spcPts val="600"/>
              </a:spcAft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461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161522"/>
          </a:xfrm>
        </p:spPr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WEBLIOGRAPHY</a:t>
            </a:r>
            <a:endParaRPr lang="ca-ES" dirty="0">
              <a:solidFill>
                <a:srgbClr val="FF0000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323525" y="2485623"/>
            <a:ext cx="46235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endParaRPr lang="ca-ES" sz="2400" dirty="0"/>
          </a:p>
          <a:p>
            <a:r>
              <a:rPr lang="en-US" sz="2400" dirty="0"/>
              <a:t>  </a:t>
            </a:r>
          </a:p>
          <a:p>
            <a:r>
              <a:rPr lang="en-US" dirty="0"/>
              <a:t> </a:t>
            </a:r>
            <a:endParaRPr lang="ca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1244960" y="2058899"/>
            <a:ext cx="86633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ca-ES" dirty="0"/>
              <a:t>For </a:t>
            </a:r>
            <a:r>
              <a:rPr lang="ca-ES" dirty="0" err="1"/>
              <a:t>and</a:t>
            </a:r>
            <a:r>
              <a:rPr lang="ca-ES" dirty="0"/>
              <a:t> </a:t>
            </a:r>
            <a:r>
              <a:rPr lang="ca-ES" dirty="0" err="1"/>
              <a:t>since</a:t>
            </a:r>
            <a:r>
              <a:rPr lang="ca-ES" dirty="0"/>
              <a:t>: </a:t>
            </a:r>
            <a:r>
              <a:rPr lang="en-GB" dirty="0">
                <a:solidFill>
                  <a:srgbClr val="6B9F2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https://elt.oup.com/student/englishfile/intermediate3/grammar/file02/nef_int_grammar02_b01?cc=ro&amp;selLanguage=en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1" u="sng" dirty="0">
                <a:solidFill>
                  <a:srgbClr val="6B9F2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https://elt.oup.com/student/englishfile/intermediate3/grammar/file02/nef_int_grammar02_b02?cc=ro&amp;selLanguage=en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dirty="0">
              <a:solidFill>
                <a:srgbClr val="6B9F25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6B9F2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https://elt.oup.com/student/englishfile/preint3/grammar/file04/grammar04_01a?cc=ro&amp;selLanguage=en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linkClick r:id="rId3"/>
              </a:rPr>
              <a:t>https://elt.oup.com/student/englishfile/preint3/grammar/file04/grammar04_a02?cc=ro&amp;selLanguage=en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ca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ca-ES" dirty="0" err="1"/>
              <a:t>Speaking</a:t>
            </a:r>
            <a:r>
              <a:rPr lang="ca-ES" dirty="0"/>
              <a:t> cards: </a:t>
            </a:r>
            <a:r>
              <a:rPr lang="en-GB" dirty="0">
                <a:hlinkClick r:id="rId4"/>
              </a:rPr>
              <a:t>https://en.islcollective.com/english-esl-worksheets/grammar/present-perfect-or-past-simple-tense/have-you-ever-speaking-cards/82747</a:t>
            </a:r>
            <a:r>
              <a:rPr lang="en-GB" dirty="0"/>
              <a:t> (ever practice)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 err="1"/>
              <a:t>Wordwall</a:t>
            </a:r>
            <a:r>
              <a:rPr lang="en-GB" dirty="0"/>
              <a:t>: https://wordwall.net/es-ar/community/present-perfect-or-past-since-and-for</a:t>
            </a:r>
            <a:endParaRPr lang="ca-ES" u="sng" dirty="0"/>
          </a:p>
        </p:txBody>
      </p:sp>
    </p:spTree>
    <p:extLst>
      <p:ext uri="{BB962C8B-B14F-4D97-AF65-F5344CB8AC3E}">
        <p14:creationId xmlns:p14="http://schemas.microsoft.com/office/powerpoint/2010/main" val="284684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THANK YOU FOR YOUR </a:t>
            </a:r>
            <a:r>
              <a:rPr lang="es-ES" dirty="0" err="1"/>
              <a:t>attention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26" name="Picture 2" descr="Resultado de imagen de goodbye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b="30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354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697</TotalTime>
  <Words>800</Words>
  <Application>Microsoft Office PowerPoint</Application>
  <PresentationFormat>Panorámica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Tw Cen MT</vt:lpstr>
      <vt:lpstr>Tw Cen MT Condensed</vt:lpstr>
      <vt:lpstr>Wingdings</vt:lpstr>
      <vt:lpstr>Wingdings 3</vt:lpstr>
      <vt:lpstr>Integral</vt:lpstr>
      <vt:lpstr>PRESENT perfect SIMPLE /PRESENT perfect CONTINUOUS</vt:lpstr>
      <vt:lpstr>PRESENT perfect SIMPLE  </vt:lpstr>
      <vt:lpstr>PRESENT perfect SIMPLE FORM </vt:lpstr>
      <vt:lpstr>MORE EXAMPLES</vt:lpstr>
      <vt:lpstr>PRACTICE </vt:lpstr>
      <vt:lpstr>We use the present perfect …. </vt:lpstr>
      <vt:lpstr>how long…….?  + (for/since)</vt:lpstr>
      <vt:lpstr>HAVE YOU EVER…….?  </vt:lpstr>
      <vt:lpstr>just/already/YET   </vt:lpstr>
      <vt:lpstr>PRESENT perfect continuous</vt:lpstr>
      <vt:lpstr>PRESENT perfect continuous</vt:lpstr>
      <vt:lpstr>PRESENT perfect continuous</vt:lpstr>
      <vt:lpstr>Presentación de PowerPoint</vt:lpstr>
      <vt:lpstr>WEBLIOGRAPHY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 SIMPLE</dc:title>
  <dc:creator>Caterina Inés Latella</dc:creator>
  <cp:lastModifiedBy>Caterina Inés Latella</cp:lastModifiedBy>
  <cp:revision>55</cp:revision>
  <dcterms:created xsi:type="dcterms:W3CDTF">2018-04-20T06:14:45Z</dcterms:created>
  <dcterms:modified xsi:type="dcterms:W3CDTF">2024-01-09T23:03:52Z</dcterms:modified>
</cp:coreProperties>
</file>