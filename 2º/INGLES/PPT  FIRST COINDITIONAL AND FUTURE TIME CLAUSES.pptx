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4" r:id="rId3"/>
    <p:sldId id="276" r:id="rId4"/>
    <p:sldId id="277" r:id="rId5"/>
    <p:sldId id="278" r:id="rId6"/>
    <p:sldId id="257" r:id="rId7"/>
    <p:sldId id="273" r:id="rId8"/>
    <p:sldId id="279" r:id="rId9"/>
    <p:sldId id="272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79" autoAdjust="0"/>
    <p:restoredTop sz="94662" autoAdjust="0"/>
  </p:normalViewPr>
  <p:slideViewPr>
    <p:cSldViewPr snapToGrid="0">
      <p:cViewPr varScale="1">
        <p:scale>
          <a:sx n="70" d="100"/>
          <a:sy n="70" d="100"/>
        </p:scale>
        <p:origin x="-546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1/15/2019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1/15/2019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1/15/2019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1/15/2019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1/15/2019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1/15/2019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1/15/2019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1/15/2019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1/15/2019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1/15/2019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1/15/2019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1/15/2019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lt.oup.com/student/englishfile/intermediate/a_grammar/file04/nef_int_grammar04_01a?cc=gb&amp;selLanguage=en" TargetMode="External"/><Relationship Id="rId2" Type="http://schemas.openxmlformats.org/officeDocument/2006/relationships/hyperlink" Target="https://elt.oup.com/student/englishfile/intermediate/a_grammar/file04/nef_int_grammar04_a02?cc=gb&amp;selLanguage=en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earnenglish.britishcouncil.org/english-grammar/verbs-time-clauses-and-if-clauses" TargetMode="External"/><Relationship Id="rId4" Type="http://schemas.openxmlformats.org/officeDocument/2006/relationships/hyperlink" Target="https://www.e-grammar.org/time-clauses/test1-exercise1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FIRST CONDITIONAL </a:t>
            </a:r>
            <a:r>
              <a:rPr lang="es-ES" dirty="0" smtClean="0"/>
              <a:t>+ </a:t>
            </a:r>
            <a:br>
              <a:rPr lang="es-ES" dirty="0" smtClean="0"/>
            </a:br>
            <a:r>
              <a:rPr lang="es-ES" dirty="0" smtClean="0"/>
              <a:t>FUTURE </a:t>
            </a:r>
            <a:r>
              <a:rPr lang="es-ES" dirty="0" smtClean="0"/>
              <a:t>TIME </a:t>
            </a:r>
            <a:r>
              <a:rPr lang="es-ES" dirty="0" err="1" smtClean="0"/>
              <a:t>CLAUSEs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smtClean="0"/>
              <a:t>Caterina </a:t>
            </a:r>
            <a:r>
              <a:rPr lang="es-ES" dirty="0" err="1" smtClean="0"/>
              <a:t>Ines</a:t>
            </a:r>
            <a:r>
              <a:rPr lang="es-ES" dirty="0" smtClean="0"/>
              <a:t> </a:t>
            </a:r>
            <a:r>
              <a:rPr lang="es-ES" dirty="0" err="1" smtClean="0"/>
              <a:t>Latella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39489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Conditional</a:t>
            </a:r>
            <a:r>
              <a:rPr lang="es-ES" dirty="0" smtClean="0"/>
              <a:t> </a:t>
            </a:r>
            <a:r>
              <a:rPr lang="es-ES" dirty="0" err="1" smtClean="0"/>
              <a:t>sentences</a:t>
            </a:r>
            <a:r>
              <a:rPr lang="es-ES" dirty="0"/>
              <a:t>?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46975" y="2286000"/>
            <a:ext cx="10895525" cy="4023360"/>
          </a:xfrm>
        </p:spPr>
        <p:txBody>
          <a:bodyPr>
            <a:normAutofit/>
          </a:bodyPr>
          <a:lstStyle/>
          <a:p>
            <a:endParaRPr lang="es-ES" sz="3200" dirty="0"/>
          </a:p>
          <a:p>
            <a:endParaRPr lang="es-ES" dirty="0" smtClean="0">
              <a:solidFill>
                <a:srgbClr val="FF0000"/>
              </a:solidFill>
            </a:endParaRPr>
          </a:p>
          <a:p>
            <a:endParaRPr lang="es-ES" dirty="0" smtClean="0">
              <a:solidFill>
                <a:srgbClr val="FF0000"/>
              </a:solidFill>
            </a:endParaRPr>
          </a:p>
          <a:p>
            <a:endParaRPr lang="es-ES" dirty="0"/>
          </a:p>
          <a:p>
            <a:endParaRPr lang="es-ES" dirty="0"/>
          </a:p>
        </p:txBody>
      </p:sp>
      <p:pic>
        <p:nvPicPr>
          <p:cNvPr id="1026" name="Picture 2" descr="Resultado de imagen de CONDITIONAL SENTENC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667" y="1922604"/>
            <a:ext cx="7334250" cy="4676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8679975" y="2047164"/>
            <a:ext cx="31662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 smtClean="0"/>
              <a:t>CONDITION + CONSEQUENCE/RESULT</a:t>
            </a:r>
            <a:endParaRPr lang="ca-ES" sz="3200" b="1" dirty="0"/>
          </a:p>
        </p:txBody>
      </p:sp>
      <p:sp>
        <p:nvSpPr>
          <p:cNvPr id="7" name="6 CuadroTexto"/>
          <p:cNvSpPr txBox="1"/>
          <p:nvPr/>
        </p:nvSpPr>
        <p:spPr>
          <a:xfrm>
            <a:off x="8679975" y="4751695"/>
            <a:ext cx="31662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 smtClean="0"/>
              <a:t>CONSEQUENCE/RESULT + CONDITION</a:t>
            </a:r>
            <a:endParaRPr lang="ca-ES" sz="3200" b="1" dirty="0"/>
          </a:p>
        </p:txBody>
      </p:sp>
      <p:sp>
        <p:nvSpPr>
          <p:cNvPr id="5" name="4 Flecha derecha"/>
          <p:cNvSpPr/>
          <p:nvPr/>
        </p:nvSpPr>
        <p:spPr>
          <a:xfrm>
            <a:off x="8144917" y="2831994"/>
            <a:ext cx="535058" cy="2796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6" name="5 Flecha derecha"/>
          <p:cNvSpPr/>
          <p:nvPr/>
        </p:nvSpPr>
        <p:spPr>
          <a:xfrm>
            <a:off x="8256896" y="5536525"/>
            <a:ext cx="423079" cy="2228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743712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SOME EXAMPLES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46975" y="2286000"/>
            <a:ext cx="10895525" cy="4023360"/>
          </a:xfrm>
        </p:spPr>
        <p:txBody>
          <a:bodyPr>
            <a:normAutofit/>
          </a:bodyPr>
          <a:lstStyle/>
          <a:p>
            <a:endParaRPr lang="es-ES" dirty="0" smtClean="0">
              <a:solidFill>
                <a:srgbClr val="FF0000"/>
              </a:solidFill>
            </a:endParaRPr>
          </a:p>
          <a:p>
            <a:endParaRPr lang="es-ES" dirty="0"/>
          </a:p>
          <a:p>
            <a:endParaRPr lang="es-ES" dirty="0"/>
          </a:p>
        </p:txBody>
      </p:sp>
      <p:pic>
        <p:nvPicPr>
          <p:cNvPr id="2052" name="Picture 4" descr="Resultado de imagen de future condition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60" y="1809173"/>
            <a:ext cx="5453655" cy="302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6277971" y="3324077"/>
            <a:ext cx="55409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 smtClean="0">
                <a:solidFill>
                  <a:srgbClr val="FF0000"/>
                </a:solidFill>
              </a:rPr>
              <a:t>- </a:t>
            </a:r>
            <a:r>
              <a:rPr lang="es-ES" sz="2800" dirty="0" err="1" smtClean="0">
                <a:solidFill>
                  <a:srgbClr val="FF0000"/>
                </a:solidFill>
              </a:rPr>
              <a:t>If</a:t>
            </a:r>
            <a:r>
              <a:rPr lang="es-ES" sz="2800" dirty="0" smtClean="0">
                <a:solidFill>
                  <a:srgbClr val="FF0000"/>
                </a:solidFill>
              </a:rPr>
              <a:t> </a:t>
            </a:r>
            <a:r>
              <a:rPr lang="es-ES" sz="2800" dirty="0" err="1" smtClean="0">
                <a:solidFill>
                  <a:srgbClr val="FF0000"/>
                </a:solidFill>
              </a:rPr>
              <a:t>it</a:t>
            </a:r>
            <a:r>
              <a:rPr lang="es-ES" sz="2800" dirty="0" smtClean="0">
                <a:solidFill>
                  <a:srgbClr val="FF0000"/>
                </a:solidFill>
              </a:rPr>
              <a:t> </a:t>
            </a:r>
            <a:r>
              <a:rPr lang="es-ES" sz="2800" dirty="0" err="1">
                <a:solidFill>
                  <a:srgbClr val="FF0000"/>
                </a:solidFill>
              </a:rPr>
              <a:t>rains</a:t>
            </a:r>
            <a:r>
              <a:rPr lang="es-ES" sz="2800" dirty="0">
                <a:solidFill>
                  <a:srgbClr val="FF0000"/>
                </a:solidFill>
              </a:rPr>
              <a:t>, I </a:t>
            </a:r>
            <a:r>
              <a:rPr lang="es-ES" sz="2800" dirty="0" err="1">
                <a:solidFill>
                  <a:srgbClr val="FF0000"/>
                </a:solidFill>
              </a:rPr>
              <a:t>will</a:t>
            </a:r>
            <a:r>
              <a:rPr lang="es-ES" sz="2800" dirty="0">
                <a:solidFill>
                  <a:srgbClr val="FF0000"/>
                </a:solidFill>
              </a:rPr>
              <a:t> </a:t>
            </a:r>
            <a:r>
              <a:rPr lang="es-ES" sz="2800" dirty="0" err="1">
                <a:solidFill>
                  <a:srgbClr val="FF0000"/>
                </a:solidFill>
              </a:rPr>
              <a:t>stay</a:t>
            </a:r>
            <a:r>
              <a:rPr lang="es-ES" sz="2800" dirty="0">
                <a:solidFill>
                  <a:srgbClr val="FF0000"/>
                </a:solidFill>
              </a:rPr>
              <a:t> at </a:t>
            </a:r>
            <a:r>
              <a:rPr lang="es-ES" sz="2800" dirty="0" smtClean="0">
                <a:solidFill>
                  <a:srgbClr val="FF0000"/>
                </a:solidFill>
              </a:rPr>
              <a:t>home</a:t>
            </a:r>
          </a:p>
          <a:p>
            <a:endParaRPr lang="es-ES" sz="2800" dirty="0">
              <a:solidFill>
                <a:srgbClr val="FF0000"/>
              </a:solidFill>
            </a:endParaRPr>
          </a:p>
          <a:p>
            <a:r>
              <a:rPr lang="es-ES" sz="2800" dirty="0" smtClean="0">
                <a:solidFill>
                  <a:srgbClr val="FF0000"/>
                </a:solidFill>
              </a:rPr>
              <a:t>“</a:t>
            </a:r>
            <a:r>
              <a:rPr lang="es-ES" sz="2800" u="sng" dirty="0" err="1">
                <a:solidFill>
                  <a:srgbClr val="FF0000"/>
                </a:solidFill>
              </a:rPr>
              <a:t>If</a:t>
            </a:r>
            <a:r>
              <a:rPr lang="es-ES" sz="2800" u="sng" dirty="0">
                <a:solidFill>
                  <a:srgbClr val="FF0000"/>
                </a:solidFill>
              </a:rPr>
              <a:t> </a:t>
            </a:r>
            <a:r>
              <a:rPr lang="es-ES" sz="2800" u="sng" dirty="0" err="1">
                <a:solidFill>
                  <a:srgbClr val="FF0000"/>
                </a:solidFill>
              </a:rPr>
              <a:t>it</a:t>
            </a:r>
            <a:r>
              <a:rPr lang="es-ES" sz="2800" u="sng" dirty="0">
                <a:solidFill>
                  <a:srgbClr val="FF0000"/>
                </a:solidFill>
              </a:rPr>
              <a:t> </a:t>
            </a:r>
            <a:r>
              <a:rPr lang="es-ES" sz="2800" u="sng" dirty="0" err="1">
                <a:solidFill>
                  <a:srgbClr val="FF0000"/>
                </a:solidFill>
              </a:rPr>
              <a:t>rains</a:t>
            </a:r>
            <a:r>
              <a:rPr lang="es-ES" sz="2800" dirty="0">
                <a:solidFill>
                  <a:srgbClr val="FF0000"/>
                </a:solidFill>
              </a:rPr>
              <a:t>” </a:t>
            </a:r>
            <a:r>
              <a:rPr lang="es-ES" sz="2800" dirty="0" err="1"/>
              <a:t>is</a:t>
            </a:r>
            <a:r>
              <a:rPr lang="es-ES" sz="2800" dirty="0"/>
              <a:t> </a:t>
            </a:r>
            <a:r>
              <a:rPr lang="es-ES" sz="2800" dirty="0" err="1"/>
              <a:t>the</a:t>
            </a:r>
            <a:r>
              <a:rPr lang="es-ES" sz="2800" dirty="0"/>
              <a:t> CONDITION, and </a:t>
            </a:r>
            <a:r>
              <a:rPr lang="es-ES" sz="2800" dirty="0" err="1"/>
              <a:t>the</a:t>
            </a:r>
            <a:r>
              <a:rPr lang="es-ES" sz="2800" dirty="0"/>
              <a:t> RESULT/CONSEQUENCE </a:t>
            </a:r>
            <a:r>
              <a:rPr lang="es-ES" sz="2800" dirty="0" err="1"/>
              <a:t>is</a:t>
            </a:r>
            <a:r>
              <a:rPr lang="es-ES" sz="2800" dirty="0"/>
              <a:t> “</a:t>
            </a:r>
            <a:r>
              <a:rPr lang="es-ES" sz="2800" u="sng" dirty="0">
                <a:solidFill>
                  <a:srgbClr val="FF0000"/>
                </a:solidFill>
              </a:rPr>
              <a:t>I </a:t>
            </a:r>
            <a:r>
              <a:rPr lang="es-ES" sz="2800" u="sng" dirty="0" err="1">
                <a:solidFill>
                  <a:srgbClr val="FF0000"/>
                </a:solidFill>
              </a:rPr>
              <a:t>will</a:t>
            </a:r>
            <a:r>
              <a:rPr lang="es-ES" sz="2800" u="sng" dirty="0">
                <a:solidFill>
                  <a:srgbClr val="FF0000"/>
                </a:solidFill>
              </a:rPr>
              <a:t> </a:t>
            </a:r>
            <a:r>
              <a:rPr lang="es-ES" sz="2800" u="sng" dirty="0" err="1">
                <a:solidFill>
                  <a:srgbClr val="FF0000"/>
                </a:solidFill>
              </a:rPr>
              <a:t>stay</a:t>
            </a:r>
            <a:r>
              <a:rPr lang="es-ES" sz="2800" u="sng" dirty="0">
                <a:solidFill>
                  <a:srgbClr val="FF0000"/>
                </a:solidFill>
              </a:rPr>
              <a:t> at home</a:t>
            </a:r>
            <a:r>
              <a:rPr lang="es-ES" sz="2800" dirty="0">
                <a:solidFill>
                  <a:srgbClr val="FF0000"/>
                </a:solidFill>
              </a:rPr>
              <a:t>”</a:t>
            </a:r>
            <a:endParaRPr lang="es-ES" sz="2800" dirty="0"/>
          </a:p>
          <a:p>
            <a:endParaRPr lang="ca-ES" sz="2800" dirty="0"/>
          </a:p>
        </p:txBody>
      </p:sp>
      <p:pic>
        <p:nvPicPr>
          <p:cNvPr id="3074" name="Picture 2" descr="Resultado de imagen de first conditional jok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4507" y="546350"/>
            <a:ext cx="3895062" cy="2750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9516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FIRST CONDITIONAL </a:t>
            </a:r>
            <a:r>
              <a:rPr lang="es-ES" dirty="0" err="1" smtClean="0"/>
              <a:t>sentence</a:t>
            </a:r>
            <a:r>
              <a:rPr lang="es-ES" dirty="0" smtClean="0"/>
              <a:t>– </a:t>
            </a:r>
            <a:r>
              <a:rPr lang="es-ES" dirty="0" smtClean="0"/>
              <a:t>WHAT IS IT?</a:t>
            </a:r>
            <a:endParaRPr lang="es-ES" dirty="0"/>
          </a:p>
        </p:txBody>
      </p:sp>
      <p:sp>
        <p:nvSpPr>
          <p:cNvPr id="6" name="AutoShape 2" descr="first conditional vs second conditiona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a-ES"/>
          </a:p>
        </p:txBody>
      </p:sp>
      <p:sp>
        <p:nvSpPr>
          <p:cNvPr id="7" name="AutoShape 4" descr="first conditional vs second conditional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a-ES"/>
          </a:p>
        </p:txBody>
      </p:sp>
      <p:sp>
        <p:nvSpPr>
          <p:cNvPr id="10" name="AutoShape 6" descr="first conditional vs second conditional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a-ES"/>
          </a:p>
        </p:txBody>
      </p:sp>
      <p:sp>
        <p:nvSpPr>
          <p:cNvPr id="12" name="11 Rectángulo"/>
          <p:cNvSpPr/>
          <p:nvPr/>
        </p:nvSpPr>
        <p:spPr>
          <a:xfrm>
            <a:off x="932596" y="2372308"/>
            <a:ext cx="967171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We use </a:t>
            </a:r>
            <a:r>
              <a:rPr lang="en-US" sz="3200" b="1" dirty="0" smtClean="0"/>
              <a:t>first </a:t>
            </a:r>
            <a:r>
              <a:rPr lang="en-US" sz="3200" b="1" dirty="0"/>
              <a:t>conditional </a:t>
            </a:r>
            <a:r>
              <a:rPr lang="en-US" sz="3200" b="1" dirty="0" smtClean="0"/>
              <a:t>sentences </a:t>
            </a:r>
            <a:r>
              <a:rPr lang="en-US" sz="3200" dirty="0" smtClean="0"/>
              <a:t>to </a:t>
            </a:r>
            <a:r>
              <a:rPr lang="en-US" sz="3200" dirty="0"/>
              <a:t>talk about possible </a:t>
            </a:r>
            <a:r>
              <a:rPr lang="en-US" sz="3200" dirty="0" smtClean="0"/>
              <a:t>situations in the present or the future, </a:t>
            </a:r>
            <a:r>
              <a:rPr lang="en-US" sz="3200" dirty="0"/>
              <a:t>things that may easily </a:t>
            </a:r>
            <a:r>
              <a:rPr lang="en-US" sz="3200" dirty="0" smtClean="0"/>
              <a:t>happen after a certain CONDITION.</a:t>
            </a:r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i="1" dirty="0">
                <a:solidFill>
                  <a:srgbClr val="FF0000"/>
                </a:solidFill>
              </a:rPr>
              <a:t>If I </a:t>
            </a:r>
            <a:r>
              <a:rPr lang="en-US" sz="3200" b="1" i="1" dirty="0">
                <a:solidFill>
                  <a:srgbClr val="FF0000"/>
                </a:solidFill>
              </a:rPr>
              <a:t>see</a:t>
            </a:r>
            <a:r>
              <a:rPr lang="en-US" sz="3200" i="1" dirty="0">
                <a:solidFill>
                  <a:srgbClr val="FF0000"/>
                </a:solidFill>
              </a:rPr>
              <a:t> Sara, I’</a:t>
            </a:r>
            <a:r>
              <a:rPr lang="en-US" sz="3200" b="1" i="1" dirty="0">
                <a:solidFill>
                  <a:srgbClr val="FF0000"/>
                </a:solidFill>
              </a:rPr>
              <a:t>ll tell</a:t>
            </a:r>
            <a:r>
              <a:rPr lang="en-US" sz="3200" i="1" dirty="0">
                <a:solidFill>
                  <a:srgbClr val="FF0000"/>
                </a:solidFill>
              </a:rPr>
              <a:t> her to call you</a:t>
            </a:r>
            <a:r>
              <a:rPr lang="en-US" sz="3200" i="1" dirty="0"/>
              <a:t>.</a:t>
            </a:r>
            <a:r>
              <a:rPr lang="en-US" sz="3200" dirty="0"/>
              <a:t> (=possible)</a:t>
            </a:r>
          </a:p>
        </p:txBody>
      </p:sp>
    </p:spTree>
    <p:extLst>
      <p:ext uri="{BB962C8B-B14F-4D97-AF65-F5344CB8AC3E}">
        <p14:creationId xmlns:p14="http://schemas.microsoft.com/office/powerpoint/2010/main" val="2654416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FIRST CONDITIONAL - TENSES</a:t>
            </a:r>
            <a:endParaRPr lang="es-ES" dirty="0"/>
          </a:p>
        </p:txBody>
      </p:sp>
      <p:sp>
        <p:nvSpPr>
          <p:cNvPr id="6" name="AutoShape 2" descr="first conditional vs second conditiona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a-ES"/>
          </a:p>
        </p:txBody>
      </p:sp>
      <p:sp>
        <p:nvSpPr>
          <p:cNvPr id="7" name="AutoShape 4" descr="first conditional vs second conditional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a-ES"/>
          </a:p>
        </p:txBody>
      </p:sp>
      <p:sp>
        <p:nvSpPr>
          <p:cNvPr id="10" name="AutoShape 6" descr="first conditional vs second conditional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a-ES"/>
          </a:p>
        </p:txBody>
      </p: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911" y="1667870"/>
            <a:ext cx="8204901" cy="506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9239533" y="3084394"/>
            <a:ext cx="274320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500" b="1" dirty="0" err="1" smtClean="0"/>
              <a:t>After</a:t>
            </a:r>
            <a:r>
              <a:rPr lang="es-ES" sz="2500" b="1" dirty="0" smtClean="0"/>
              <a:t> </a:t>
            </a:r>
            <a:r>
              <a:rPr lang="es-ES" sz="2500" b="1" dirty="0" err="1" smtClean="0"/>
              <a:t>the</a:t>
            </a:r>
            <a:r>
              <a:rPr lang="es-ES" sz="2500" b="1" dirty="0" smtClean="0"/>
              <a:t> </a:t>
            </a:r>
            <a:r>
              <a:rPr lang="es-ES" sz="2200" b="1" dirty="0" smtClean="0"/>
              <a:t>IF-CLAUSE </a:t>
            </a:r>
            <a:r>
              <a:rPr lang="es-ES" sz="2500" b="1" dirty="0" err="1" smtClean="0"/>
              <a:t>we</a:t>
            </a:r>
            <a:r>
              <a:rPr lang="es-ES" sz="2500" b="1" dirty="0" smtClean="0"/>
              <a:t> can use </a:t>
            </a:r>
            <a:r>
              <a:rPr lang="es-ES" sz="2500" b="1" dirty="0" smtClean="0">
                <a:solidFill>
                  <a:srgbClr val="FF0000"/>
                </a:solidFill>
              </a:rPr>
              <a:t>WILL</a:t>
            </a:r>
            <a:r>
              <a:rPr lang="es-ES" sz="2500" b="1" dirty="0" smtClean="0"/>
              <a:t>/, </a:t>
            </a:r>
            <a:r>
              <a:rPr lang="es-ES" sz="2500" b="1" dirty="0" err="1" smtClean="0">
                <a:solidFill>
                  <a:srgbClr val="FF0000"/>
                </a:solidFill>
              </a:rPr>
              <a:t>imperatives</a:t>
            </a:r>
            <a:r>
              <a:rPr lang="es-ES" sz="2500" b="1" dirty="0" smtClean="0">
                <a:solidFill>
                  <a:srgbClr val="FF0000"/>
                </a:solidFill>
              </a:rPr>
              <a:t> </a:t>
            </a:r>
            <a:r>
              <a:rPr lang="es-ES" sz="2500" b="1" dirty="0" smtClean="0"/>
              <a:t>/ </a:t>
            </a:r>
            <a:r>
              <a:rPr lang="es-ES" sz="2500" b="1" dirty="0" err="1" smtClean="0"/>
              <a:t>many</a:t>
            </a:r>
            <a:r>
              <a:rPr lang="es-ES" sz="2500" b="1" dirty="0" smtClean="0"/>
              <a:t> </a:t>
            </a:r>
            <a:r>
              <a:rPr lang="es-ES" sz="2500" b="1" dirty="0" smtClean="0">
                <a:solidFill>
                  <a:srgbClr val="FF0000"/>
                </a:solidFill>
              </a:rPr>
              <a:t>modal </a:t>
            </a:r>
            <a:r>
              <a:rPr lang="es-ES" sz="2500" b="1" dirty="0" err="1" smtClean="0">
                <a:solidFill>
                  <a:srgbClr val="FF0000"/>
                </a:solidFill>
              </a:rPr>
              <a:t>verbs</a:t>
            </a:r>
            <a:endParaRPr lang="ca-ES" sz="25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984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Some</a:t>
            </a:r>
            <a:r>
              <a:rPr lang="es-ES" dirty="0" smtClean="0"/>
              <a:t> </a:t>
            </a:r>
            <a:r>
              <a:rPr lang="es-ES" dirty="0" err="1" smtClean="0"/>
              <a:t>practice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24128" y="1828800"/>
            <a:ext cx="10371753" cy="448056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Complete the First Conditional sentences with the correct form of the verbs in brackets. </a:t>
            </a:r>
            <a:endParaRPr lang="en-US" b="1" dirty="0" smtClean="0"/>
          </a:p>
          <a:p>
            <a:endParaRPr lang="en-US" dirty="0" smtClean="0"/>
          </a:p>
          <a:p>
            <a:r>
              <a:rPr lang="en-US" dirty="0" smtClean="0"/>
              <a:t>1</a:t>
            </a:r>
            <a:r>
              <a:rPr lang="en-US" dirty="0"/>
              <a:t>. How often </a:t>
            </a:r>
            <a:r>
              <a:rPr lang="en-US" dirty="0" smtClean="0"/>
              <a:t>______ people _______(</a:t>
            </a:r>
            <a:r>
              <a:rPr lang="en-US" dirty="0"/>
              <a:t>work out) if they want to get into shape quickly? </a:t>
            </a:r>
          </a:p>
          <a:p>
            <a:r>
              <a:rPr lang="en-US" dirty="0" smtClean="0"/>
              <a:t>2. If you________ (not want) to hurt yourself, warm up before exercising. </a:t>
            </a:r>
          </a:p>
          <a:p>
            <a:r>
              <a:rPr lang="en-US" dirty="0" smtClean="0"/>
              <a:t>3. Tell me if something _______(hurt). </a:t>
            </a:r>
          </a:p>
          <a:p>
            <a:r>
              <a:rPr lang="en-US" dirty="0" smtClean="0"/>
              <a:t>4. Working out ___________(not be) too bad if you have a good personal trainer. </a:t>
            </a:r>
          </a:p>
          <a:p>
            <a:r>
              <a:rPr lang="en-US" dirty="0" smtClean="0"/>
              <a:t>5. If your arms ___________(be) weak, work with light weights at first. </a:t>
            </a:r>
          </a:p>
          <a:p>
            <a:r>
              <a:rPr lang="en-US" dirty="0" smtClean="0"/>
              <a:t>6. __________(try) these weights if they aren’t too heavy for you. </a:t>
            </a:r>
          </a:p>
          <a:p>
            <a:r>
              <a:rPr lang="en-US" dirty="0" smtClean="0"/>
              <a:t>7. We __________(strengthen) our muscles if we work with weights regularly. </a:t>
            </a:r>
          </a:p>
          <a:p>
            <a:r>
              <a:rPr lang="en-US" dirty="0" smtClean="0"/>
              <a:t>8. If you _________ (get) bored on the treadmill, change your workout routine. </a:t>
            </a:r>
          </a:p>
          <a:p>
            <a:r>
              <a:rPr lang="en-US" dirty="0" smtClean="0"/>
              <a:t>9. _________I ______(take) a break if I get really tired? </a:t>
            </a:r>
          </a:p>
          <a:p>
            <a:r>
              <a:rPr lang="en-US" dirty="0" smtClean="0"/>
              <a:t>10. ___________(speak) to Mark if you want a good personal trainer!</a:t>
            </a:r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1004103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Future</a:t>
            </a:r>
            <a:r>
              <a:rPr lang="es-ES" dirty="0" smtClean="0"/>
              <a:t> time </a:t>
            </a:r>
            <a:r>
              <a:rPr lang="es-ES" dirty="0" err="1" smtClean="0"/>
              <a:t>clauses</a:t>
            </a:r>
            <a:endParaRPr lang="ca-ES" dirty="0"/>
          </a:p>
        </p:txBody>
      </p:sp>
      <p:sp>
        <p:nvSpPr>
          <p:cNvPr id="2" name="AutoShape 2" descr="Resultado de imagen de THIS IS PHONE CONVERS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a-ES"/>
          </a:p>
        </p:txBody>
      </p:sp>
      <p:sp>
        <p:nvSpPr>
          <p:cNvPr id="4" name="AutoShape 2" descr="first conditional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a-ES"/>
          </a:p>
        </p:txBody>
      </p:sp>
      <p:sp>
        <p:nvSpPr>
          <p:cNvPr id="5" name="AutoShape 4" descr="first conditional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a-ES"/>
          </a:p>
        </p:txBody>
      </p:sp>
      <p:pic>
        <p:nvPicPr>
          <p:cNvPr id="7" name="6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722" y="2064088"/>
            <a:ext cx="7783773" cy="4793912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307975" y="2825087"/>
            <a:ext cx="3417864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500" dirty="0" err="1" smtClean="0"/>
              <a:t>The</a:t>
            </a:r>
            <a:r>
              <a:rPr lang="es-ES" sz="2500" dirty="0" smtClean="0"/>
              <a:t> “IF” </a:t>
            </a:r>
            <a:r>
              <a:rPr lang="es-ES" sz="2500" dirty="0" err="1" smtClean="0"/>
              <a:t>word</a:t>
            </a:r>
            <a:r>
              <a:rPr lang="es-ES" sz="2500" dirty="0" smtClean="0"/>
              <a:t> can </a:t>
            </a:r>
            <a:r>
              <a:rPr lang="es-ES" sz="2500" dirty="0" err="1" smtClean="0"/>
              <a:t>also</a:t>
            </a:r>
            <a:r>
              <a:rPr lang="es-ES" sz="2500" dirty="0" smtClean="0"/>
              <a:t> be </a:t>
            </a:r>
            <a:r>
              <a:rPr lang="es-ES" sz="2500" dirty="0" err="1" smtClean="0"/>
              <a:t>substituted</a:t>
            </a:r>
            <a:r>
              <a:rPr lang="es-ES" sz="2500" dirty="0" smtClean="0"/>
              <a:t> </a:t>
            </a:r>
            <a:r>
              <a:rPr lang="es-ES" sz="2500" dirty="0" err="1" smtClean="0"/>
              <a:t>by</a:t>
            </a:r>
            <a:r>
              <a:rPr lang="es-ES" sz="2500" dirty="0" smtClean="0"/>
              <a:t> </a:t>
            </a:r>
            <a:r>
              <a:rPr lang="es-ES" sz="2500" dirty="0" err="1" smtClean="0"/>
              <a:t>other</a:t>
            </a:r>
            <a:r>
              <a:rPr lang="es-ES" sz="2500" dirty="0" smtClean="0"/>
              <a:t> </a:t>
            </a:r>
            <a:r>
              <a:rPr lang="es-ES" sz="2500" dirty="0" err="1" smtClean="0"/>
              <a:t>words</a:t>
            </a:r>
            <a:r>
              <a:rPr lang="es-ES" sz="2500" dirty="0" smtClean="0"/>
              <a:t>/</a:t>
            </a:r>
            <a:r>
              <a:rPr lang="es-ES" sz="2500" dirty="0" err="1" smtClean="0"/>
              <a:t>expressions</a:t>
            </a:r>
            <a:r>
              <a:rPr lang="es-ES" sz="2500" dirty="0" smtClean="0"/>
              <a:t> </a:t>
            </a:r>
            <a:r>
              <a:rPr lang="es-ES" sz="2500" dirty="0" err="1" smtClean="0"/>
              <a:t>such</a:t>
            </a:r>
            <a:r>
              <a:rPr lang="es-ES" sz="2500" dirty="0" smtClean="0"/>
              <a:t> as </a:t>
            </a:r>
            <a:r>
              <a:rPr lang="es-ES" sz="2500" dirty="0" err="1" smtClean="0">
                <a:solidFill>
                  <a:srgbClr val="FF0000"/>
                </a:solidFill>
              </a:rPr>
              <a:t>when</a:t>
            </a:r>
            <a:r>
              <a:rPr lang="es-ES" sz="2500" dirty="0" smtClean="0">
                <a:solidFill>
                  <a:srgbClr val="FF0000"/>
                </a:solidFill>
              </a:rPr>
              <a:t>, as </a:t>
            </a:r>
            <a:r>
              <a:rPr lang="es-ES" sz="2500" dirty="0" err="1" smtClean="0">
                <a:solidFill>
                  <a:srgbClr val="FF0000"/>
                </a:solidFill>
              </a:rPr>
              <a:t>soon</a:t>
            </a:r>
            <a:r>
              <a:rPr lang="es-ES" sz="2500" dirty="0" smtClean="0">
                <a:solidFill>
                  <a:srgbClr val="FF0000"/>
                </a:solidFill>
              </a:rPr>
              <a:t> as, </a:t>
            </a:r>
            <a:r>
              <a:rPr lang="es-ES" sz="2500" dirty="0" err="1" smtClean="0">
                <a:solidFill>
                  <a:srgbClr val="FF0000"/>
                </a:solidFill>
              </a:rPr>
              <a:t>until</a:t>
            </a:r>
            <a:r>
              <a:rPr lang="es-ES" sz="2500" dirty="0" smtClean="0">
                <a:solidFill>
                  <a:srgbClr val="FF0000"/>
                </a:solidFill>
              </a:rPr>
              <a:t>, once, </a:t>
            </a:r>
            <a:r>
              <a:rPr lang="es-ES" sz="2500" dirty="0" err="1" smtClean="0">
                <a:solidFill>
                  <a:srgbClr val="FF0000"/>
                </a:solidFill>
              </a:rPr>
              <a:t>before</a:t>
            </a:r>
            <a:r>
              <a:rPr lang="es-ES" sz="2500" dirty="0" smtClean="0"/>
              <a:t>, etc…</a:t>
            </a:r>
            <a:endParaRPr lang="ca-ES" sz="2500" dirty="0"/>
          </a:p>
        </p:txBody>
      </p:sp>
    </p:spTree>
    <p:extLst>
      <p:ext uri="{BB962C8B-B14F-4D97-AF65-F5344CB8AC3E}">
        <p14:creationId xmlns:p14="http://schemas.microsoft.com/office/powerpoint/2010/main" val="3859090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Future</a:t>
            </a:r>
            <a:r>
              <a:rPr lang="es-ES" dirty="0" smtClean="0"/>
              <a:t> time </a:t>
            </a:r>
            <a:r>
              <a:rPr lang="es-ES" dirty="0" err="1" smtClean="0"/>
              <a:t>clauses</a:t>
            </a:r>
            <a:r>
              <a:rPr lang="es-ES" dirty="0" smtClean="0"/>
              <a:t>- EXAMPLES</a:t>
            </a:r>
            <a:endParaRPr lang="ca-ES" dirty="0"/>
          </a:p>
        </p:txBody>
      </p:sp>
      <p:sp>
        <p:nvSpPr>
          <p:cNvPr id="2" name="AutoShape 2" descr="Resultado de imagen de THIS IS PHONE CONVERS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a-ES"/>
          </a:p>
        </p:txBody>
      </p:sp>
      <p:sp>
        <p:nvSpPr>
          <p:cNvPr id="4" name="AutoShape 2" descr="first conditional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a-ES"/>
          </a:p>
        </p:txBody>
      </p:sp>
      <p:sp>
        <p:nvSpPr>
          <p:cNvPr id="5" name="AutoShape 4" descr="first conditional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a-ES"/>
          </a:p>
        </p:txBody>
      </p:sp>
      <p:pic>
        <p:nvPicPr>
          <p:cNvPr id="2050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7588" y="312738"/>
            <a:ext cx="4008508" cy="2226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612774" y="4858603"/>
            <a:ext cx="50783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500" b="1" dirty="0" smtClean="0">
                <a:solidFill>
                  <a:srgbClr val="FF0000"/>
                </a:solidFill>
              </a:rPr>
              <a:t>As </a:t>
            </a:r>
            <a:r>
              <a:rPr lang="es-ES" sz="2500" b="1" dirty="0" err="1" smtClean="0">
                <a:solidFill>
                  <a:srgbClr val="FF0000"/>
                </a:solidFill>
              </a:rPr>
              <a:t>soon</a:t>
            </a:r>
            <a:r>
              <a:rPr lang="es-ES" sz="2500" b="1" dirty="0" smtClean="0">
                <a:solidFill>
                  <a:srgbClr val="FF0000"/>
                </a:solidFill>
              </a:rPr>
              <a:t> as </a:t>
            </a:r>
            <a:r>
              <a:rPr lang="es-ES" sz="2500" dirty="0" smtClean="0"/>
              <a:t>I </a:t>
            </a:r>
            <a:r>
              <a:rPr lang="es-ES" sz="2500" dirty="0" err="1" smtClean="0"/>
              <a:t>finish</a:t>
            </a:r>
            <a:r>
              <a:rPr lang="es-ES" sz="2500" dirty="0" smtClean="0"/>
              <a:t> </a:t>
            </a:r>
            <a:r>
              <a:rPr lang="es-ES" sz="2500" dirty="0" err="1" smtClean="0"/>
              <a:t>with</a:t>
            </a:r>
            <a:r>
              <a:rPr lang="es-ES" sz="2500" dirty="0" smtClean="0"/>
              <a:t> </a:t>
            </a:r>
            <a:r>
              <a:rPr lang="es-ES" sz="2500" dirty="0" err="1" smtClean="0"/>
              <a:t>this</a:t>
            </a:r>
            <a:r>
              <a:rPr lang="es-ES" sz="2500" dirty="0" smtClean="0"/>
              <a:t> </a:t>
            </a:r>
            <a:r>
              <a:rPr lang="es-ES" sz="2500" dirty="0" err="1" smtClean="0"/>
              <a:t>client</a:t>
            </a:r>
            <a:r>
              <a:rPr lang="es-ES" sz="2500" dirty="0" smtClean="0"/>
              <a:t>, </a:t>
            </a:r>
            <a:r>
              <a:rPr lang="es-ES" sz="2500" dirty="0" err="1" smtClean="0"/>
              <a:t>I’ll</a:t>
            </a:r>
            <a:r>
              <a:rPr lang="es-ES" sz="2500" dirty="0" smtClean="0"/>
              <a:t> come and </a:t>
            </a:r>
            <a:r>
              <a:rPr lang="es-ES" sz="2500" dirty="0" err="1" smtClean="0"/>
              <a:t>help</a:t>
            </a:r>
            <a:r>
              <a:rPr lang="es-ES" sz="2500" dirty="0" smtClean="0"/>
              <a:t> </a:t>
            </a:r>
            <a:r>
              <a:rPr lang="es-ES" sz="2500" dirty="0" err="1" smtClean="0"/>
              <a:t>you</a:t>
            </a:r>
            <a:endParaRPr lang="ca-ES" sz="2500" dirty="0"/>
          </a:p>
        </p:txBody>
      </p:sp>
      <p:sp>
        <p:nvSpPr>
          <p:cNvPr id="9" name="8 CuadroTexto"/>
          <p:cNvSpPr txBox="1"/>
          <p:nvPr/>
        </p:nvSpPr>
        <p:spPr>
          <a:xfrm>
            <a:off x="968991" y="2183642"/>
            <a:ext cx="40397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500" dirty="0" smtClean="0"/>
              <a:t>I </a:t>
            </a:r>
            <a:r>
              <a:rPr lang="es-ES" sz="2500" dirty="0" err="1" smtClean="0"/>
              <a:t>will</a:t>
            </a:r>
            <a:r>
              <a:rPr lang="es-ES" sz="2500" dirty="0" smtClean="0"/>
              <a:t> </a:t>
            </a:r>
            <a:r>
              <a:rPr lang="es-ES" sz="2500" dirty="0" err="1" smtClean="0"/>
              <a:t>buy</a:t>
            </a:r>
            <a:r>
              <a:rPr lang="es-ES" sz="2500" dirty="0" smtClean="0"/>
              <a:t> </a:t>
            </a:r>
            <a:r>
              <a:rPr lang="es-ES" sz="2500" dirty="0" err="1" smtClean="0"/>
              <a:t>some</a:t>
            </a:r>
            <a:r>
              <a:rPr lang="es-ES" sz="2500" dirty="0" smtClean="0"/>
              <a:t> new </a:t>
            </a:r>
            <a:r>
              <a:rPr lang="es-ES" sz="2500" dirty="0" err="1" smtClean="0"/>
              <a:t>clothes</a:t>
            </a:r>
            <a:r>
              <a:rPr lang="es-ES" sz="2500" dirty="0" smtClean="0"/>
              <a:t> </a:t>
            </a:r>
            <a:r>
              <a:rPr lang="es-ES" sz="2500" b="1" dirty="0" err="1" smtClean="0">
                <a:solidFill>
                  <a:srgbClr val="FF0000"/>
                </a:solidFill>
              </a:rPr>
              <a:t>when</a:t>
            </a:r>
            <a:r>
              <a:rPr lang="es-ES" sz="2500" dirty="0" smtClean="0">
                <a:solidFill>
                  <a:srgbClr val="FF0000"/>
                </a:solidFill>
              </a:rPr>
              <a:t> </a:t>
            </a:r>
            <a:r>
              <a:rPr lang="es-ES" sz="2500" dirty="0" smtClean="0"/>
              <a:t>I am in </a:t>
            </a:r>
            <a:r>
              <a:rPr lang="es-ES" sz="2500" dirty="0" err="1" smtClean="0"/>
              <a:t>Milan</a:t>
            </a:r>
            <a:endParaRPr lang="ca-ES" sz="2500" dirty="0"/>
          </a:p>
        </p:txBody>
      </p:sp>
      <p:sp>
        <p:nvSpPr>
          <p:cNvPr id="10" name="9 CuadroTexto"/>
          <p:cNvSpPr txBox="1"/>
          <p:nvPr/>
        </p:nvSpPr>
        <p:spPr>
          <a:xfrm>
            <a:off x="7397087" y="3548418"/>
            <a:ext cx="38623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 smtClean="0">
                <a:solidFill>
                  <a:srgbClr val="FF0000"/>
                </a:solidFill>
              </a:rPr>
              <a:t>Once</a:t>
            </a:r>
            <a:r>
              <a:rPr lang="es-ES" sz="2400" dirty="0" smtClean="0">
                <a:solidFill>
                  <a:srgbClr val="FF0000"/>
                </a:solidFill>
              </a:rPr>
              <a:t> </a:t>
            </a:r>
            <a:r>
              <a:rPr lang="es-ES" sz="2400" dirty="0" smtClean="0"/>
              <a:t>I </a:t>
            </a:r>
            <a:r>
              <a:rPr lang="es-ES" sz="2400" dirty="0" err="1" smtClean="0"/>
              <a:t>finish</a:t>
            </a:r>
            <a:r>
              <a:rPr lang="es-ES" sz="2400" dirty="0" smtClean="0"/>
              <a:t> </a:t>
            </a:r>
            <a:r>
              <a:rPr lang="es-ES" sz="2400" dirty="0" err="1" smtClean="0"/>
              <a:t>this</a:t>
            </a:r>
            <a:r>
              <a:rPr lang="es-ES" sz="2400" dirty="0" smtClean="0"/>
              <a:t> </a:t>
            </a:r>
            <a:r>
              <a:rPr lang="es-ES" sz="2400" dirty="0" err="1" smtClean="0"/>
              <a:t>course</a:t>
            </a:r>
            <a:r>
              <a:rPr lang="es-ES" sz="2400" dirty="0" smtClean="0"/>
              <a:t>, I </a:t>
            </a:r>
            <a:r>
              <a:rPr lang="es-ES" sz="2400" dirty="0" err="1" smtClean="0"/>
              <a:t>will</a:t>
            </a:r>
            <a:r>
              <a:rPr lang="es-ES" sz="2400" dirty="0" smtClean="0"/>
              <a:t> look </a:t>
            </a:r>
            <a:r>
              <a:rPr lang="es-ES" sz="2400" dirty="0" err="1" smtClean="0"/>
              <a:t>for</a:t>
            </a:r>
            <a:r>
              <a:rPr lang="es-ES" sz="2400" dirty="0" smtClean="0"/>
              <a:t> a </a:t>
            </a:r>
            <a:r>
              <a:rPr lang="es-ES" sz="2400" dirty="0" err="1" smtClean="0"/>
              <a:t>job</a:t>
            </a:r>
            <a:endParaRPr lang="ca-ES" sz="2400" dirty="0"/>
          </a:p>
        </p:txBody>
      </p:sp>
      <p:sp>
        <p:nvSpPr>
          <p:cNvPr id="11" name="10 CuadroTexto"/>
          <p:cNvSpPr txBox="1"/>
          <p:nvPr/>
        </p:nvSpPr>
        <p:spPr>
          <a:xfrm>
            <a:off x="6741994" y="4872251"/>
            <a:ext cx="375313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500" b="1" dirty="0" err="1" smtClean="0">
                <a:solidFill>
                  <a:srgbClr val="FF0000"/>
                </a:solidFill>
              </a:rPr>
              <a:t>Before</a:t>
            </a:r>
            <a:r>
              <a:rPr lang="es-ES" sz="2500" dirty="0" smtClean="0">
                <a:solidFill>
                  <a:srgbClr val="FF0000"/>
                </a:solidFill>
              </a:rPr>
              <a:t> </a:t>
            </a:r>
            <a:r>
              <a:rPr lang="es-ES" sz="2500" dirty="0" err="1" smtClean="0"/>
              <a:t>the</a:t>
            </a:r>
            <a:r>
              <a:rPr lang="es-ES" sz="2500" dirty="0" smtClean="0"/>
              <a:t> </a:t>
            </a:r>
            <a:r>
              <a:rPr lang="es-ES" sz="2500" dirty="0" err="1" smtClean="0"/>
              <a:t>end</a:t>
            </a:r>
            <a:r>
              <a:rPr lang="es-ES" sz="2500" dirty="0" smtClean="0"/>
              <a:t> of </a:t>
            </a:r>
            <a:r>
              <a:rPr lang="es-ES" sz="2500" dirty="0" err="1" smtClean="0"/>
              <a:t>the</a:t>
            </a:r>
            <a:r>
              <a:rPr lang="es-ES" sz="2500" dirty="0" smtClean="0"/>
              <a:t> </a:t>
            </a:r>
            <a:r>
              <a:rPr lang="es-ES" sz="2500" dirty="0" err="1" smtClean="0"/>
              <a:t>year</a:t>
            </a:r>
            <a:r>
              <a:rPr lang="es-ES" sz="2500" dirty="0" smtClean="0"/>
              <a:t>; I </a:t>
            </a:r>
            <a:r>
              <a:rPr lang="es-ES" sz="2500" dirty="0" err="1" smtClean="0"/>
              <a:t>will</a:t>
            </a:r>
            <a:r>
              <a:rPr lang="es-ES" sz="2500" dirty="0" smtClean="0"/>
              <a:t> </a:t>
            </a:r>
            <a:r>
              <a:rPr lang="es-ES" sz="2500" dirty="0" err="1" smtClean="0"/>
              <a:t>have</a:t>
            </a:r>
            <a:r>
              <a:rPr lang="es-ES" sz="2500" dirty="0" smtClean="0"/>
              <a:t> </a:t>
            </a:r>
            <a:r>
              <a:rPr lang="es-ES" sz="2500" dirty="0" err="1" smtClean="0"/>
              <a:t>finished</a:t>
            </a:r>
            <a:r>
              <a:rPr lang="es-ES" sz="2500" dirty="0" smtClean="0"/>
              <a:t> </a:t>
            </a:r>
            <a:r>
              <a:rPr lang="es-ES" sz="2500" dirty="0" err="1" smtClean="0"/>
              <a:t>this</a:t>
            </a:r>
            <a:r>
              <a:rPr lang="es-ES" sz="2500" dirty="0" smtClean="0"/>
              <a:t> </a:t>
            </a:r>
            <a:r>
              <a:rPr lang="es-ES" sz="2500" dirty="0" err="1" smtClean="0"/>
              <a:t>course</a:t>
            </a:r>
            <a:endParaRPr lang="ca-ES" sz="2500" dirty="0"/>
          </a:p>
        </p:txBody>
      </p:sp>
      <p:sp>
        <p:nvSpPr>
          <p:cNvPr id="12" name="11 CuadroTexto"/>
          <p:cNvSpPr txBox="1"/>
          <p:nvPr/>
        </p:nvSpPr>
        <p:spPr>
          <a:xfrm>
            <a:off x="4599295" y="2910231"/>
            <a:ext cx="240200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500" b="1" dirty="0" err="1" smtClean="0">
                <a:solidFill>
                  <a:srgbClr val="FF0000"/>
                </a:solidFill>
              </a:rPr>
              <a:t>Unless</a:t>
            </a:r>
            <a:r>
              <a:rPr lang="es-ES" sz="2500" b="1" dirty="0" smtClean="0">
                <a:solidFill>
                  <a:srgbClr val="FF0000"/>
                </a:solidFill>
              </a:rPr>
              <a:t>* </a:t>
            </a:r>
            <a:r>
              <a:rPr lang="es-ES" sz="2500" dirty="0" err="1" smtClean="0"/>
              <a:t>it</a:t>
            </a:r>
            <a:r>
              <a:rPr lang="es-ES" sz="2500" dirty="0" smtClean="0"/>
              <a:t> </a:t>
            </a:r>
            <a:r>
              <a:rPr lang="es-ES" sz="2500" dirty="0" err="1" smtClean="0"/>
              <a:t>rains</a:t>
            </a:r>
            <a:r>
              <a:rPr lang="es-ES" sz="2500" dirty="0" smtClean="0"/>
              <a:t>, I </a:t>
            </a:r>
            <a:r>
              <a:rPr lang="es-ES" sz="2500" dirty="0" err="1" smtClean="0"/>
              <a:t>will</a:t>
            </a:r>
            <a:r>
              <a:rPr lang="es-ES" sz="2500" dirty="0" smtClean="0"/>
              <a:t> </a:t>
            </a:r>
            <a:r>
              <a:rPr lang="es-ES" sz="2500" dirty="0" err="1" smtClean="0"/>
              <a:t>go</a:t>
            </a:r>
            <a:r>
              <a:rPr lang="es-ES" sz="2500" dirty="0" smtClean="0"/>
              <a:t> </a:t>
            </a:r>
            <a:r>
              <a:rPr lang="es-ES" sz="2500" dirty="0" err="1" smtClean="0"/>
              <a:t>out</a:t>
            </a:r>
            <a:endParaRPr lang="es-ES" sz="2500" dirty="0" smtClean="0"/>
          </a:p>
          <a:p>
            <a:endParaRPr lang="es-ES" sz="2500" dirty="0"/>
          </a:p>
          <a:p>
            <a:r>
              <a:rPr lang="es-ES" sz="2500" b="1" dirty="0" smtClean="0"/>
              <a:t>*</a:t>
            </a:r>
            <a:r>
              <a:rPr lang="es-ES" sz="2500" b="1" dirty="0" err="1" smtClean="0"/>
              <a:t>Unless</a:t>
            </a:r>
            <a:r>
              <a:rPr lang="es-ES" sz="2500" dirty="0" smtClean="0"/>
              <a:t>= IF NOT</a:t>
            </a:r>
            <a:endParaRPr lang="ca-ES" sz="2500" dirty="0"/>
          </a:p>
        </p:txBody>
      </p:sp>
    </p:spTree>
    <p:extLst>
      <p:ext uri="{BB962C8B-B14F-4D97-AF65-F5344CB8AC3E}">
        <p14:creationId xmlns:p14="http://schemas.microsoft.com/office/powerpoint/2010/main" val="149119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Keep</a:t>
            </a:r>
            <a:r>
              <a:rPr lang="es-ES" dirty="0" smtClean="0"/>
              <a:t> </a:t>
            </a:r>
            <a:r>
              <a:rPr lang="es-ES" dirty="0" err="1" smtClean="0"/>
              <a:t>practicing</a:t>
            </a:r>
            <a:endParaRPr lang="ca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73487" y="2208727"/>
            <a:ext cx="10934163" cy="4023360"/>
          </a:xfrm>
        </p:spPr>
        <p:txBody>
          <a:bodyPr>
            <a:normAutofit/>
          </a:bodyPr>
          <a:lstStyle/>
          <a:p>
            <a:endParaRPr lang="es-ES" dirty="0"/>
          </a:p>
          <a:p>
            <a:pPr>
              <a:buFont typeface="Wingdings" panose="05000000000000000000" pitchFamily="2" charset="2"/>
              <a:buChar char="v"/>
            </a:pPr>
            <a:r>
              <a:rPr lang="es-ES" sz="2400" b="1" dirty="0">
                <a:solidFill>
                  <a:srgbClr val="FF0000"/>
                </a:solidFill>
                <a:hlinkClick r:id="rId2"/>
              </a:rPr>
              <a:t>https://</a:t>
            </a:r>
            <a:r>
              <a:rPr lang="es-ES" sz="2400" b="1" dirty="0" smtClean="0">
                <a:solidFill>
                  <a:srgbClr val="FF0000"/>
                </a:solidFill>
                <a:hlinkClick r:id="rId2"/>
              </a:rPr>
              <a:t>elt.oup.com/student/englishfile/intermediate/a_grammar/file04/nef_int_grammar04_a02?cc=gb&amp;selLanguage=en</a:t>
            </a:r>
            <a:endParaRPr lang="es-ES" sz="2400" b="1" dirty="0" smtClean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s-ES" sz="2400" b="1" dirty="0">
                <a:solidFill>
                  <a:srgbClr val="FF0000"/>
                </a:solidFill>
                <a:hlinkClick r:id="rId3"/>
              </a:rPr>
              <a:t>https://</a:t>
            </a:r>
            <a:r>
              <a:rPr lang="es-ES" sz="2400" b="1" dirty="0" smtClean="0">
                <a:solidFill>
                  <a:srgbClr val="FF0000"/>
                </a:solidFill>
                <a:hlinkClick r:id="rId3"/>
              </a:rPr>
              <a:t>elt.oup.com/student/englishfile/intermediate/a_grammar/file04/nef_int_grammar04_01a?cc=gb&amp;selLanguage=en</a:t>
            </a:r>
            <a:endParaRPr lang="es-ES" sz="2400" b="1" dirty="0" smtClean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s-ES" sz="2400" b="1" dirty="0" smtClean="0">
                <a:solidFill>
                  <a:srgbClr val="FF0000"/>
                </a:solidFill>
                <a:hlinkClick r:id="rId4"/>
              </a:rPr>
              <a:t>https</a:t>
            </a:r>
            <a:r>
              <a:rPr lang="es-ES" sz="2400" b="1" dirty="0">
                <a:solidFill>
                  <a:srgbClr val="FF0000"/>
                </a:solidFill>
                <a:hlinkClick r:id="rId4"/>
              </a:rPr>
              <a:t>://www.e-grammar.org/time-clauses/test1-exercise1</a:t>
            </a:r>
            <a:r>
              <a:rPr lang="es-ES" sz="2400" b="1" dirty="0" smtClean="0">
                <a:solidFill>
                  <a:srgbClr val="FF0000"/>
                </a:solidFill>
                <a:hlinkClick r:id="rId4"/>
              </a:rPr>
              <a:t>/</a:t>
            </a:r>
            <a:endParaRPr lang="es-ES" sz="2400" b="1" dirty="0" smtClean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s-ES" sz="2400" b="1" dirty="0">
                <a:solidFill>
                  <a:srgbClr val="FF0000"/>
                </a:solidFill>
                <a:hlinkClick r:id="rId5"/>
              </a:rPr>
              <a:t>https://learnenglish.britishcouncil.org/english-grammar/verbs-time-clauses-and-if-clauses</a:t>
            </a:r>
            <a:r>
              <a:rPr lang="es-ES" sz="2400" b="1" dirty="0">
                <a:solidFill>
                  <a:srgbClr val="FF0000"/>
                </a:solidFill>
              </a:rPr>
              <a:t>  (BRITISH </a:t>
            </a:r>
            <a:r>
              <a:rPr lang="es-ES" sz="2400" b="1" dirty="0" smtClean="0">
                <a:solidFill>
                  <a:srgbClr val="FF0000"/>
                </a:solidFill>
              </a:rPr>
              <a:t>COUNCIL- </a:t>
            </a:r>
            <a:r>
              <a:rPr lang="es-ES" sz="2400" b="1" dirty="0" err="1" smtClean="0">
                <a:solidFill>
                  <a:srgbClr val="FF0000"/>
                </a:solidFill>
              </a:rPr>
              <a:t>on</a:t>
            </a:r>
            <a:r>
              <a:rPr lang="es-ES" sz="2400" b="1" dirty="0" smtClean="0">
                <a:solidFill>
                  <a:srgbClr val="FF0000"/>
                </a:solidFill>
              </a:rPr>
              <a:t> </a:t>
            </a:r>
            <a:r>
              <a:rPr lang="es-ES" sz="2400" b="1" dirty="0" err="1" smtClean="0">
                <a:solidFill>
                  <a:srgbClr val="FF0000"/>
                </a:solidFill>
              </a:rPr>
              <a:t>first</a:t>
            </a:r>
            <a:r>
              <a:rPr lang="es-ES" sz="2400" b="1" dirty="0" smtClean="0">
                <a:solidFill>
                  <a:srgbClr val="FF0000"/>
                </a:solidFill>
              </a:rPr>
              <a:t> </a:t>
            </a:r>
            <a:r>
              <a:rPr lang="es-ES" sz="2400" b="1" dirty="0" err="1" smtClean="0">
                <a:solidFill>
                  <a:srgbClr val="FF0000"/>
                </a:solidFill>
              </a:rPr>
              <a:t>conditional</a:t>
            </a:r>
            <a:r>
              <a:rPr lang="es-ES" sz="2400" b="1" dirty="0" smtClean="0">
                <a:solidFill>
                  <a:srgbClr val="FF0000"/>
                </a:solidFill>
              </a:rPr>
              <a:t> and </a:t>
            </a:r>
            <a:r>
              <a:rPr lang="es-ES" sz="2400" b="1" dirty="0" err="1" smtClean="0">
                <a:solidFill>
                  <a:srgbClr val="FF0000"/>
                </a:solidFill>
              </a:rPr>
              <a:t>future</a:t>
            </a:r>
            <a:r>
              <a:rPr lang="es-ES" sz="2400" b="1" dirty="0" smtClean="0">
                <a:solidFill>
                  <a:srgbClr val="FF0000"/>
                </a:solidFill>
              </a:rPr>
              <a:t> time </a:t>
            </a:r>
            <a:r>
              <a:rPr lang="es-ES" sz="2400" b="1" dirty="0" err="1" smtClean="0">
                <a:solidFill>
                  <a:srgbClr val="FF0000"/>
                </a:solidFill>
              </a:rPr>
              <a:t>clauses</a:t>
            </a:r>
            <a:r>
              <a:rPr lang="es-ES" sz="2400" b="1" dirty="0" smtClean="0">
                <a:solidFill>
                  <a:srgbClr val="FF0000"/>
                </a:solidFill>
              </a:rPr>
              <a:t> + </a:t>
            </a:r>
            <a:r>
              <a:rPr lang="es-ES" sz="2400" b="1" dirty="0" err="1" smtClean="0">
                <a:solidFill>
                  <a:srgbClr val="FF0000"/>
                </a:solidFill>
              </a:rPr>
              <a:t>practice</a:t>
            </a:r>
            <a:r>
              <a:rPr lang="es-ES" sz="2400" b="1" dirty="0" smtClean="0">
                <a:solidFill>
                  <a:srgbClr val="FF0000"/>
                </a:solidFill>
              </a:rPr>
              <a:t>)</a:t>
            </a:r>
            <a:endParaRPr lang="es-ES" sz="2400" b="1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endParaRPr lang="es-ES" sz="2400" b="1" dirty="0" smtClean="0">
              <a:solidFill>
                <a:srgbClr val="FF0000"/>
              </a:solidFill>
            </a:endParaRPr>
          </a:p>
          <a:p>
            <a:endParaRPr lang="es-ES" sz="2400" b="1" dirty="0" smtClean="0">
              <a:solidFill>
                <a:srgbClr val="FF0000"/>
              </a:solidFill>
            </a:endParaRPr>
          </a:p>
          <a:p>
            <a:endParaRPr lang="es-ES" sz="2400" b="1" dirty="0" smtClean="0">
              <a:solidFill>
                <a:srgbClr val="FF0000"/>
              </a:solidFill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10131379" y="3480176"/>
            <a:ext cx="1768699" cy="3734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123063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THANK YOU FOR YOUR </a:t>
            </a:r>
            <a:r>
              <a:rPr lang="es-ES" dirty="0" err="1" smtClean="0"/>
              <a:t>attention</a:t>
            </a:r>
            <a:endParaRPr lang="ca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ca-ES" dirty="0"/>
          </a:p>
        </p:txBody>
      </p:sp>
      <p:pic>
        <p:nvPicPr>
          <p:cNvPr id="1026" name="Picture 2" descr="Resultado de imagen de goodbye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5" b="3015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354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920</TotalTime>
  <Words>409</Words>
  <Application>Microsoft Office PowerPoint</Application>
  <PresentationFormat>Personalizado</PresentationFormat>
  <Paragraphs>51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Integral</vt:lpstr>
      <vt:lpstr>FIRST CONDITIONAL +  FUTURE TIME CLAUSEs</vt:lpstr>
      <vt:lpstr>Conditional sentences?</vt:lpstr>
      <vt:lpstr>SOME EXAMPLES</vt:lpstr>
      <vt:lpstr>FIRST CONDITIONAL sentence– WHAT IS IT?</vt:lpstr>
      <vt:lpstr>FIRST CONDITIONAL - TENSES</vt:lpstr>
      <vt:lpstr>Some practice</vt:lpstr>
      <vt:lpstr>Future time clauses</vt:lpstr>
      <vt:lpstr>Future time clauses- EXAMPLES</vt:lpstr>
      <vt:lpstr>Keep practicing</vt:lpstr>
      <vt:lpstr>THANK YOU FOR YOUR attention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PAST SIMPLE</dc:title>
  <dc:creator>Caterina Inés Latella</dc:creator>
  <cp:lastModifiedBy>EduCate</cp:lastModifiedBy>
  <cp:revision>74</cp:revision>
  <dcterms:created xsi:type="dcterms:W3CDTF">2018-04-20T06:14:45Z</dcterms:created>
  <dcterms:modified xsi:type="dcterms:W3CDTF">2019-01-15T20:40:19Z</dcterms:modified>
</cp:coreProperties>
</file>