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8" r:id="rId3"/>
    <p:sldId id="263" r:id="rId4"/>
    <p:sldId id="260" r:id="rId5"/>
    <p:sldId id="257" r:id="rId6"/>
    <p:sldId id="259" r:id="rId7"/>
    <p:sldId id="265" r:id="rId8"/>
    <p:sldId id="261" r:id="rId9"/>
    <p:sldId id="264" r:id="rId10"/>
    <p:sldId id="258" r:id="rId11"/>
    <p:sldId id="269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terina Ines Latella" userId="c26ec3b6-1156-4e7c-8bbc-024c4b0f47a6" providerId="ADAL" clId="{EE7D0886-ECC3-44AE-84E5-C7C30E68C8B8}"/>
    <pc:docChg chg="custSel addSld modSld sldOrd">
      <pc:chgData name="Caterina Ines Latella" userId="c26ec3b6-1156-4e7c-8bbc-024c4b0f47a6" providerId="ADAL" clId="{EE7D0886-ECC3-44AE-84E5-C7C30E68C8B8}" dt="2025-11-30T20:42:55.647" v="334" actId="1076"/>
      <pc:docMkLst>
        <pc:docMk/>
      </pc:docMkLst>
      <pc:sldChg chg="addSp delSp modSp mod">
        <pc:chgData name="Caterina Ines Latella" userId="c26ec3b6-1156-4e7c-8bbc-024c4b0f47a6" providerId="ADAL" clId="{EE7D0886-ECC3-44AE-84E5-C7C30E68C8B8}" dt="2025-11-30T20:35:45.435" v="55" actId="478"/>
        <pc:sldMkLst>
          <pc:docMk/>
          <pc:sldMk cId="2892914885" sldId="267"/>
        </pc:sldMkLst>
        <pc:spChg chg="add del">
          <ac:chgData name="Caterina Ines Latella" userId="c26ec3b6-1156-4e7c-8bbc-024c4b0f47a6" providerId="ADAL" clId="{EE7D0886-ECC3-44AE-84E5-C7C30E68C8B8}" dt="2025-11-30T20:32:05.009" v="5" actId="931"/>
          <ac:spMkLst>
            <pc:docMk/>
            <pc:sldMk cId="2892914885" sldId="267"/>
            <ac:spMk id="3" creationId="{D88137FC-38A6-3B0A-C1C4-B6F33181A46C}"/>
          </ac:spMkLst>
        </pc:spChg>
        <pc:spChg chg="add del mod">
          <ac:chgData name="Caterina Ines Latella" userId="c26ec3b6-1156-4e7c-8bbc-024c4b0f47a6" providerId="ADAL" clId="{EE7D0886-ECC3-44AE-84E5-C7C30E68C8B8}" dt="2025-11-30T20:31:41.832" v="4"/>
          <ac:spMkLst>
            <pc:docMk/>
            <pc:sldMk cId="2892914885" sldId="267"/>
            <ac:spMk id="5" creationId="{EFDEC964-4C6E-8A9F-68FC-EC7EE28A313E}"/>
          </ac:spMkLst>
        </pc:spChg>
        <pc:spChg chg="add mod">
          <ac:chgData name="Caterina Ines Latella" userId="c26ec3b6-1156-4e7c-8bbc-024c4b0f47a6" providerId="ADAL" clId="{EE7D0886-ECC3-44AE-84E5-C7C30E68C8B8}" dt="2025-11-30T20:31:41.181" v="3"/>
          <ac:spMkLst>
            <pc:docMk/>
            <pc:sldMk cId="2892914885" sldId="267"/>
            <ac:spMk id="6" creationId="{7006CCDA-DBB0-E694-F894-CF006947DAA9}"/>
          </ac:spMkLst>
        </pc:spChg>
        <pc:spChg chg="add">
          <ac:chgData name="Caterina Ines Latella" userId="c26ec3b6-1156-4e7c-8bbc-024c4b0f47a6" providerId="ADAL" clId="{EE7D0886-ECC3-44AE-84E5-C7C30E68C8B8}" dt="2025-11-30T20:31:38.534" v="2"/>
          <ac:spMkLst>
            <pc:docMk/>
            <pc:sldMk cId="2892914885" sldId="267"/>
            <ac:spMk id="7" creationId="{4B05D199-E151-67A7-4740-E467E3DF3397}"/>
          </ac:spMkLst>
        </pc:spChg>
        <pc:spChg chg="add del mod">
          <ac:chgData name="Caterina Ines Latella" userId="c26ec3b6-1156-4e7c-8bbc-024c4b0f47a6" providerId="ADAL" clId="{EE7D0886-ECC3-44AE-84E5-C7C30E68C8B8}" dt="2025-11-30T20:35:34.553" v="51" actId="931"/>
          <ac:spMkLst>
            <pc:docMk/>
            <pc:sldMk cId="2892914885" sldId="267"/>
            <ac:spMk id="11" creationId="{4A6E67E5-0E3C-2748-1C18-FCBDEAF90A51}"/>
          </ac:spMkLst>
        </pc:spChg>
        <pc:picChg chg="add del mod ord">
          <ac:chgData name="Caterina Ines Latella" userId="c26ec3b6-1156-4e7c-8bbc-024c4b0f47a6" providerId="ADAL" clId="{EE7D0886-ECC3-44AE-84E5-C7C30E68C8B8}" dt="2025-11-30T20:35:05.260" v="45" actId="478"/>
          <ac:picMkLst>
            <pc:docMk/>
            <pc:sldMk cId="2892914885" sldId="267"/>
            <ac:picMk id="9" creationId="{A49FC5BA-2EFC-5DA4-17AD-F038072EB5CD}"/>
          </ac:picMkLst>
        </pc:picChg>
        <pc:picChg chg="add del mod">
          <ac:chgData name="Caterina Ines Latella" userId="c26ec3b6-1156-4e7c-8bbc-024c4b0f47a6" providerId="ADAL" clId="{EE7D0886-ECC3-44AE-84E5-C7C30E68C8B8}" dt="2025-11-30T20:35:45.435" v="55" actId="478"/>
          <ac:picMkLst>
            <pc:docMk/>
            <pc:sldMk cId="2892914885" sldId="267"/>
            <ac:picMk id="13" creationId="{39A0F3FA-E05F-A709-8A7E-1BC359A774A9}"/>
          </ac:picMkLst>
        </pc:picChg>
        <pc:picChg chg="add mod">
          <ac:chgData name="Caterina Ines Latella" userId="c26ec3b6-1156-4e7c-8bbc-024c4b0f47a6" providerId="ADAL" clId="{EE7D0886-ECC3-44AE-84E5-C7C30E68C8B8}" dt="2025-11-30T20:35:35.046" v="53" actId="962"/>
          <ac:picMkLst>
            <pc:docMk/>
            <pc:sldMk cId="2892914885" sldId="267"/>
            <ac:picMk id="15" creationId="{FEE74971-795E-6338-D70F-0E24C376F9A5}"/>
          </ac:picMkLst>
        </pc:picChg>
      </pc:sldChg>
      <pc:sldChg chg="addSp modSp new mod ord">
        <pc:chgData name="Caterina Ines Latella" userId="c26ec3b6-1156-4e7c-8bbc-024c4b0f47a6" providerId="ADAL" clId="{EE7D0886-ECC3-44AE-84E5-C7C30E68C8B8}" dt="2025-11-30T20:38:38.154" v="321" actId="20577"/>
        <pc:sldMkLst>
          <pc:docMk/>
          <pc:sldMk cId="1755536815" sldId="268"/>
        </pc:sldMkLst>
        <pc:spChg chg="mod">
          <ac:chgData name="Caterina Ines Latella" userId="c26ec3b6-1156-4e7c-8bbc-024c4b0f47a6" providerId="ADAL" clId="{EE7D0886-ECC3-44AE-84E5-C7C30E68C8B8}" dt="2025-11-30T20:36:01.926" v="77" actId="20577"/>
          <ac:spMkLst>
            <pc:docMk/>
            <pc:sldMk cId="1755536815" sldId="268"/>
            <ac:spMk id="2" creationId="{033ACD3F-048E-4DAA-AEEF-BBCBEBE97EE0}"/>
          </ac:spMkLst>
        </pc:spChg>
        <pc:spChg chg="add mod">
          <ac:chgData name="Caterina Ines Latella" userId="c26ec3b6-1156-4e7c-8bbc-024c4b0f47a6" providerId="ADAL" clId="{EE7D0886-ECC3-44AE-84E5-C7C30E68C8B8}" dt="2025-11-30T20:38:38.154" v="321" actId="20577"/>
          <ac:spMkLst>
            <pc:docMk/>
            <pc:sldMk cId="1755536815" sldId="268"/>
            <ac:spMk id="3" creationId="{1C9ED038-9716-0A2E-287B-AFB687C9DF50}"/>
          </ac:spMkLst>
        </pc:spChg>
      </pc:sldChg>
      <pc:sldChg chg="addSp delSp modSp add mod">
        <pc:chgData name="Caterina Ines Latella" userId="c26ec3b6-1156-4e7c-8bbc-024c4b0f47a6" providerId="ADAL" clId="{EE7D0886-ECC3-44AE-84E5-C7C30E68C8B8}" dt="2025-11-30T20:42:55.647" v="334" actId="1076"/>
        <pc:sldMkLst>
          <pc:docMk/>
          <pc:sldMk cId="1814956183" sldId="269"/>
        </pc:sldMkLst>
        <pc:spChg chg="mod">
          <ac:chgData name="Caterina Ines Latella" userId="c26ec3b6-1156-4e7c-8bbc-024c4b0f47a6" providerId="ADAL" clId="{EE7D0886-ECC3-44AE-84E5-C7C30E68C8B8}" dt="2025-11-30T20:42:10.017" v="324" actId="207"/>
          <ac:spMkLst>
            <pc:docMk/>
            <pc:sldMk cId="1814956183" sldId="269"/>
            <ac:spMk id="2" creationId="{EE0D6985-95AD-9EC8-0CE6-DA876958F8A6}"/>
          </ac:spMkLst>
        </pc:spChg>
        <pc:spChg chg="add mod">
          <ac:chgData name="Caterina Ines Latella" userId="c26ec3b6-1156-4e7c-8bbc-024c4b0f47a6" providerId="ADAL" clId="{EE7D0886-ECC3-44AE-84E5-C7C30E68C8B8}" dt="2025-11-30T20:42:42.471" v="329" actId="207"/>
          <ac:spMkLst>
            <pc:docMk/>
            <pc:sldMk cId="1814956183" sldId="269"/>
            <ac:spMk id="4" creationId="{C8E156DE-8F61-3C63-3057-FDCFE96A9A3A}"/>
          </ac:spMkLst>
        </pc:spChg>
        <pc:picChg chg="add mod">
          <ac:chgData name="Caterina Ines Latella" userId="c26ec3b6-1156-4e7c-8bbc-024c4b0f47a6" providerId="ADAL" clId="{EE7D0886-ECC3-44AE-84E5-C7C30E68C8B8}" dt="2025-11-30T20:42:55.647" v="334" actId="1076"/>
          <ac:picMkLst>
            <pc:docMk/>
            <pc:sldMk cId="1814956183" sldId="269"/>
            <ac:picMk id="3" creationId="{84FCE366-9529-FFFB-0146-B84853110BE2}"/>
          </ac:picMkLst>
        </pc:picChg>
        <pc:picChg chg="del">
          <ac:chgData name="Caterina Ines Latella" userId="c26ec3b6-1156-4e7c-8bbc-024c4b0f47a6" providerId="ADAL" clId="{EE7D0886-ECC3-44AE-84E5-C7C30E68C8B8}" dt="2025-11-30T20:42:14.614" v="325" actId="478"/>
          <ac:picMkLst>
            <pc:docMk/>
            <pc:sldMk cId="1814956183" sldId="269"/>
            <ac:picMk id="5" creationId="{8F14DDB2-5692-E0B0-3C38-08EABF37FB8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dirty="0"/>
              <a:t>11/30/2025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dirty="0"/>
              <a:t>11/30/2025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dirty="0"/>
              <a:t>11/30/2025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dirty="0"/>
              <a:t>11/30/2025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dirty="0"/>
              <a:t>11/30/2025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dirty="0"/>
              <a:t>11/30/2025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dirty="0"/>
              <a:t>11/30/2025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dirty="0"/>
              <a:t>11/30/2025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dirty="0"/>
              <a:t>11/30/2025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dirty="0"/>
              <a:t>11/30/2025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dirty="0"/>
              <a:t>11/30/2025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dirty="0"/>
              <a:pPr/>
              <a:t>11/30/2025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english.britishcouncil.org/grammar/a1-a2-grammar/past-continuous-past-simple" TargetMode="External"/><Relationship Id="rId2" Type="http://schemas.openxmlformats.org/officeDocument/2006/relationships/hyperlink" Target="https://www.baamboozle.com/game/138648" TargetMode="Externa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test-english.com/grammar-points/a2/past-continuous-past-simple/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137FBF-EE9F-D51E-E449-76083FAE28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PAST CONTINUOUS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0CCFC06-B38D-236B-D410-19FE3FA84D5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/>
              <a:t>Caterina Ines Latella</a:t>
            </a:r>
          </a:p>
        </p:txBody>
      </p:sp>
    </p:spTree>
    <p:extLst>
      <p:ext uri="{BB962C8B-B14F-4D97-AF65-F5344CB8AC3E}">
        <p14:creationId xmlns:p14="http://schemas.microsoft.com/office/powerpoint/2010/main" val="965216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3ACD3F-048E-4DAA-AEEF-BBCBEBE97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index</a:t>
            </a:r>
            <a:endParaRPr lang="es-ES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C9ED038-9716-0A2E-287B-AFB687C9DF50}"/>
              </a:ext>
            </a:extLst>
          </p:cNvPr>
          <p:cNvSpPr txBox="1"/>
          <p:nvPr/>
        </p:nvSpPr>
        <p:spPr>
          <a:xfrm>
            <a:off x="1024128" y="2404153"/>
            <a:ext cx="7318488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s-ES" sz="2800" dirty="0" err="1"/>
              <a:t>Definition</a:t>
            </a:r>
            <a:r>
              <a:rPr lang="es-ES" sz="2800" dirty="0"/>
              <a:t>, </a:t>
            </a:r>
            <a:r>
              <a:rPr lang="es-ES" sz="2800" dirty="0" err="1"/>
              <a:t>contex</a:t>
            </a:r>
            <a:r>
              <a:rPr lang="es-ES" sz="2800" dirty="0"/>
              <a:t> and timeline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s-ES" sz="2800" dirty="0" err="1"/>
              <a:t>Form</a:t>
            </a:r>
            <a:r>
              <a:rPr lang="es-ES" sz="2800" dirty="0"/>
              <a:t>: </a:t>
            </a:r>
            <a:r>
              <a:rPr lang="es-ES" sz="2800" dirty="0" err="1"/>
              <a:t>affirmative</a:t>
            </a:r>
            <a:r>
              <a:rPr lang="es-ES" sz="2800" dirty="0"/>
              <a:t>, negative and interrogative (plus short </a:t>
            </a:r>
            <a:r>
              <a:rPr lang="es-ES" sz="2800" dirty="0" err="1"/>
              <a:t>answers</a:t>
            </a:r>
            <a:r>
              <a:rPr lang="es-ES" sz="2800" dirty="0"/>
              <a:t>)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s-ES" sz="2800" dirty="0" err="1"/>
              <a:t>Past</a:t>
            </a:r>
            <a:r>
              <a:rPr lang="es-ES" sz="2800" dirty="0"/>
              <a:t> </a:t>
            </a:r>
            <a:r>
              <a:rPr lang="es-ES" sz="2800" dirty="0" err="1"/>
              <a:t>continuous</a:t>
            </a:r>
            <a:r>
              <a:rPr lang="es-ES" sz="2800" dirty="0"/>
              <a:t> versus </a:t>
            </a:r>
            <a:r>
              <a:rPr lang="es-ES" sz="2800" dirty="0" err="1"/>
              <a:t>past</a:t>
            </a:r>
            <a:r>
              <a:rPr lang="es-ES" sz="2800" dirty="0"/>
              <a:t> simple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s-ES" sz="2800" dirty="0" err="1"/>
              <a:t>While</a:t>
            </a:r>
            <a:r>
              <a:rPr lang="es-ES" sz="2800" dirty="0"/>
              <a:t>/</a:t>
            </a:r>
            <a:r>
              <a:rPr lang="es-ES" sz="2800" dirty="0" err="1"/>
              <a:t>when</a:t>
            </a:r>
            <a:r>
              <a:rPr lang="es-ES" sz="2800" dirty="0"/>
              <a:t>/</a:t>
            </a:r>
            <a:r>
              <a:rPr lang="es-ES" sz="2800" dirty="0" err="1"/>
              <a:t>during</a:t>
            </a:r>
            <a:r>
              <a:rPr lang="es-ES" sz="2800" dirty="0"/>
              <a:t>/as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s-ES" sz="2800" dirty="0" err="1"/>
              <a:t>Practice</a:t>
            </a:r>
            <a:endParaRPr lang="es-ES" sz="28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s-ES" sz="2800" dirty="0" err="1"/>
              <a:t>Weblinks</a:t>
            </a:r>
            <a:endParaRPr lang="es-ES" sz="2800" dirty="0"/>
          </a:p>
          <a:p>
            <a:pPr marL="285750" indent="-285750">
              <a:buFontTx/>
              <a:buChar char="-"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555368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0D6985-95AD-9EC8-0CE6-DA876958F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0288" y="310896"/>
            <a:ext cx="9720072" cy="1243584"/>
          </a:xfrm>
        </p:spPr>
        <p:txBody>
          <a:bodyPr/>
          <a:lstStyle/>
          <a:p>
            <a:r>
              <a:rPr lang="es-ES" dirty="0"/>
              <a:t>PAST CONTINUOUS: </a:t>
            </a:r>
            <a:r>
              <a:rPr lang="es-ES" dirty="0" err="1">
                <a:solidFill>
                  <a:srgbClr val="FF0000"/>
                </a:solidFill>
              </a:rPr>
              <a:t>was</a:t>
            </a:r>
            <a:r>
              <a:rPr lang="es-ES" dirty="0">
                <a:solidFill>
                  <a:srgbClr val="FF0000"/>
                </a:solidFill>
              </a:rPr>
              <a:t>/</a:t>
            </a:r>
            <a:r>
              <a:rPr lang="es-ES" dirty="0" err="1">
                <a:solidFill>
                  <a:srgbClr val="FF0000"/>
                </a:solidFill>
              </a:rPr>
              <a:t>were</a:t>
            </a:r>
            <a:r>
              <a:rPr lang="es-ES" dirty="0">
                <a:solidFill>
                  <a:srgbClr val="FF0000"/>
                </a:solidFill>
              </a:rPr>
              <a:t>+ V-</a:t>
            </a:r>
            <a:r>
              <a:rPr lang="es-ES" dirty="0" err="1">
                <a:solidFill>
                  <a:srgbClr val="FF0000"/>
                </a:solidFill>
              </a:rPr>
              <a:t>ing</a:t>
            </a:r>
            <a:endParaRPr lang="es-ES" dirty="0">
              <a:solidFill>
                <a:srgbClr val="FF0000"/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49D0825-F991-0DA8-CE35-52FCFD616F09}"/>
              </a:ext>
            </a:extLst>
          </p:cNvPr>
          <p:cNvSpPr txBox="1"/>
          <p:nvPr/>
        </p:nvSpPr>
        <p:spPr>
          <a:xfrm>
            <a:off x="579120" y="1468791"/>
            <a:ext cx="1175512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	The past continuous shows us that the action was already in progress at a </a:t>
            </a:r>
            <a:r>
              <a:rPr lang="en-US" b="1" i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certain time in the past</a:t>
            </a:r>
            <a:r>
              <a:rPr lang="en-US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We make the past continuous with </a:t>
            </a:r>
            <a:r>
              <a:rPr lang="en-US" b="0" i="1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was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or </a:t>
            </a:r>
            <a:r>
              <a:rPr lang="en-US" b="0" i="1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were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and the -</a:t>
            </a:r>
            <a:r>
              <a:rPr lang="en-US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ing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form of the verb.</a:t>
            </a:r>
            <a:endParaRPr lang="en-US" b="1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endParaRPr lang="en-US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endParaRPr lang="en-US" b="0" i="1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endParaRPr lang="en-US" i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endParaRPr lang="en-US" b="0" i="1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endParaRPr lang="en-US" i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endParaRPr lang="en-US" b="0" i="1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endParaRPr lang="en-US" i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endParaRPr lang="en-US" b="0" i="1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endParaRPr lang="en-US" i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endParaRPr lang="en-US" b="0" i="1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endParaRPr lang="en-US" i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endParaRPr lang="en-US" b="0" i="1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endParaRPr lang="en-US" b="0" i="1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The past continuous can also show that an activity was in progress </a:t>
            </a:r>
            <a:r>
              <a:rPr lang="en-US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for some time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</a:t>
            </a:r>
            <a:r>
              <a:rPr lang="en-US" b="0" i="0" u="sng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not just for a moment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  <a:endParaRPr lang="en-US" i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endParaRPr lang="en-US" b="0" i="1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r>
              <a:rPr lang="en-US" b="0" i="1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          We were cleaning the house </a:t>
            </a:r>
            <a:r>
              <a:rPr lang="en-US" b="0" i="1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all morning</a:t>
            </a:r>
            <a:r>
              <a:rPr lang="en-US" b="0" i="1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/</a:t>
            </a:r>
            <a:r>
              <a:rPr lang="en-US" b="0" i="1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during </a:t>
            </a:r>
            <a:r>
              <a:rPr lang="en-US" b="0" i="1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lunch time.</a:t>
            </a:r>
          </a:p>
        </p:txBody>
      </p:sp>
      <p:pic>
        <p:nvPicPr>
          <p:cNvPr id="4" name="Picture 2" descr="16: Timeline: The Past Continuous | Download Scientific Diagram">
            <a:extLst>
              <a:ext uri="{FF2B5EF4-FFF2-40B4-BE49-F238E27FC236}">
                <a16:creationId xmlns:a16="http://schemas.microsoft.com/office/drawing/2014/main" id="{AF3314A2-46D3-7636-CB67-9175D1A037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9622" y="2194560"/>
            <a:ext cx="7661404" cy="2875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96287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FE5E1EFE-732E-3870-7482-6ECFB7CC4072}"/>
              </a:ext>
            </a:extLst>
          </p:cNvPr>
          <p:cNvSpPr txBox="1"/>
          <p:nvPr/>
        </p:nvSpPr>
        <p:spPr>
          <a:xfrm>
            <a:off x="599440" y="4500880"/>
            <a:ext cx="1099312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AFFIRMATIVE:  			</a:t>
            </a:r>
            <a:r>
              <a:rPr lang="en-US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 </a:t>
            </a:r>
            <a:r>
              <a:rPr lang="en-US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was </a:t>
            </a:r>
            <a:r>
              <a:rPr lang="en-US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study</a:t>
            </a:r>
            <a:r>
              <a:rPr lang="en-US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ing</a:t>
            </a:r>
            <a:r>
              <a:rPr lang="en-US" sz="2000" i="1" dirty="0">
                <a:solidFill>
                  <a:srgbClr val="000000"/>
                </a:solidFill>
                <a:latin typeface="Arial" panose="020B0604020202020204" pitchFamily="34" charset="0"/>
              </a:rPr>
              <a:t>/They </a:t>
            </a:r>
            <a:r>
              <a:rPr lang="en-US" sz="2000" i="1" dirty="0">
                <a:solidFill>
                  <a:srgbClr val="FF0000"/>
                </a:solidFill>
                <a:latin typeface="Arial" panose="020B0604020202020204" pitchFamily="34" charset="0"/>
              </a:rPr>
              <a:t>were</a:t>
            </a:r>
            <a:r>
              <a:rPr lang="en-US" sz="2000" i="1" dirty="0">
                <a:solidFill>
                  <a:srgbClr val="000000"/>
                </a:solidFill>
                <a:latin typeface="Arial" panose="020B0604020202020204" pitchFamily="34" charset="0"/>
              </a:rPr>
              <a:t> send</a:t>
            </a:r>
            <a:r>
              <a:rPr lang="en-US" sz="2000" i="1" dirty="0">
                <a:solidFill>
                  <a:srgbClr val="FF0000"/>
                </a:solidFill>
                <a:latin typeface="Arial" panose="020B0604020202020204" pitchFamily="34" charset="0"/>
              </a:rPr>
              <a:t>ing</a:t>
            </a:r>
            <a:r>
              <a:rPr lang="en-US" sz="2000" i="1" dirty="0">
                <a:solidFill>
                  <a:srgbClr val="000000"/>
                </a:solidFill>
                <a:latin typeface="Arial" panose="020B0604020202020204" pitchFamily="34" charset="0"/>
              </a:rPr>
              <a:t> a text.</a:t>
            </a:r>
            <a:endParaRPr lang="es-ES" sz="2000" dirty="0"/>
          </a:p>
          <a:p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NEGATIVE: 				Mark and I </a:t>
            </a: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</a:rPr>
              <a:t>weren’t 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study</a:t>
            </a: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</a:rPr>
              <a:t>ing</a:t>
            </a:r>
          </a:p>
          <a:p>
            <a:r>
              <a:rPr lang="en-US" sz="2000" i="1" dirty="0">
                <a:solidFill>
                  <a:srgbClr val="000000"/>
                </a:solidFill>
                <a:latin typeface="Arial" panose="020B0604020202020204" pitchFamily="34" charset="0"/>
              </a:rPr>
              <a:t>INTERROGATIVE: 			</a:t>
            </a:r>
            <a:r>
              <a:rPr lang="en-US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What </a:t>
            </a:r>
            <a:r>
              <a:rPr lang="en-US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were </a:t>
            </a:r>
            <a:r>
              <a:rPr lang="en-US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you do</a:t>
            </a:r>
            <a:r>
              <a:rPr lang="en-US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ing</a:t>
            </a:r>
            <a:r>
              <a:rPr lang="en-US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at 8 p.m. last night? </a:t>
            </a:r>
          </a:p>
          <a:p>
            <a:r>
              <a:rPr lang="en-US" sz="2000" i="1" dirty="0">
                <a:solidFill>
                  <a:srgbClr val="000000"/>
                </a:solidFill>
                <a:latin typeface="Arial" panose="020B0604020202020204" pitchFamily="34" charset="0"/>
              </a:rPr>
              <a:t>                                 </a:t>
            </a:r>
          </a:p>
          <a:p>
            <a:r>
              <a:rPr lang="en-US" sz="2000" i="1" dirty="0">
                <a:solidFill>
                  <a:srgbClr val="FF0000"/>
                </a:solidFill>
                <a:latin typeface="Arial" panose="020B0604020202020204" pitchFamily="34" charset="0"/>
              </a:rPr>
              <a:t>							Were </a:t>
            </a:r>
            <a:r>
              <a:rPr lang="en-US" sz="2000" i="1" dirty="0">
                <a:solidFill>
                  <a:srgbClr val="000000"/>
                </a:solidFill>
                <a:latin typeface="Arial" panose="020B0604020202020204" pitchFamily="34" charset="0"/>
              </a:rPr>
              <a:t>you study</a:t>
            </a:r>
            <a:r>
              <a:rPr lang="en-US" sz="2000" i="1" dirty="0">
                <a:solidFill>
                  <a:srgbClr val="FF0000"/>
                </a:solidFill>
                <a:latin typeface="Arial" panose="020B0604020202020204" pitchFamily="34" charset="0"/>
              </a:rPr>
              <a:t>ing</a:t>
            </a:r>
            <a:r>
              <a:rPr lang="en-US" sz="2000" i="1" dirty="0">
                <a:solidFill>
                  <a:srgbClr val="000000"/>
                </a:solidFill>
                <a:latin typeface="Arial" panose="020B0604020202020204" pitchFamily="34" charset="0"/>
              </a:rPr>
              <a:t> last night at 20:00?</a:t>
            </a:r>
          </a:p>
          <a:p>
            <a:r>
              <a:rPr lang="en-US" sz="2000" i="1" dirty="0">
                <a:solidFill>
                  <a:srgbClr val="000000"/>
                </a:solidFill>
                <a:latin typeface="Arial" panose="020B0604020202020204" pitchFamily="34" charset="0"/>
              </a:rPr>
              <a:t>SHORT ANSWERS: 		Yes, I </a:t>
            </a:r>
            <a:r>
              <a:rPr lang="en-US" sz="2000" i="1" dirty="0">
                <a:solidFill>
                  <a:srgbClr val="FF0000"/>
                </a:solidFill>
                <a:latin typeface="Arial" panose="020B0604020202020204" pitchFamily="34" charset="0"/>
              </a:rPr>
              <a:t>was	</a:t>
            </a:r>
            <a:r>
              <a:rPr lang="en-US" sz="2000" i="1" dirty="0">
                <a:solidFill>
                  <a:srgbClr val="000000"/>
                </a:solidFill>
                <a:latin typeface="Arial" panose="020B0604020202020204" pitchFamily="34" charset="0"/>
              </a:rPr>
              <a:t>.		No, I</a:t>
            </a:r>
            <a:r>
              <a:rPr lang="en-US" sz="2000" i="1" dirty="0">
                <a:solidFill>
                  <a:srgbClr val="FF0000"/>
                </a:solidFill>
                <a:latin typeface="Arial" panose="020B0604020202020204" pitchFamily="34" charset="0"/>
              </a:rPr>
              <a:t> wasn’t.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1ACB77C6-BD52-77A8-F32B-5AB164FA9F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0240" y="154876"/>
            <a:ext cx="7762320" cy="4346004"/>
          </a:xfrm>
          <a:prstGeom prst="rect">
            <a:avLst/>
          </a:prstGeom>
        </p:spPr>
      </p:pic>
      <p:sp>
        <p:nvSpPr>
          <p:cNvPr id="9" name="Título 1">
            <a:extLst>
              <a:ext uri="{FF2B5EF4-FFF2-40B4-BE49-F238E27FC236}">
                <a16:creationId xmlns:a16="http://schemas.microsoft.com/office/drawing/2014/main" id="{20EF87DC-8747-0ABD-70C7-BD617BF4D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0448" y="615696"/>
            <a:ext cx="9720072" cy="1243584"/>
          </a:xfrm>
        </p:spPr>
        <p:txBody>
          <a:bodyPr/>
          <a:lstStyle/>
          <a:p>
            <a:r>
              <a:rPr lang="es-ES" dirty="0" err="1"/>
              <a:t>form</a:t>
            </a:r>
            <a:endParaRPr lang="es-E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44792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0D6985-95AD-9EC8-0CE6-DA876958F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What</a:t>
            </a:r>
            <a:r>
              <a:rPr lang="es-ES" dirty="0"/>
              <a:t> </a:t>
            </a:r>
            <a:r>
              <a:rPr lang="es-ES" dirty="0" err="1"/>
              <a:t>were</a:t>
            </a:r>
            <a:r>
              <a:rPr lang="es-ES" dirty="0"/>
              <a:t> you </a:t>
            </a:r>
            <a:r>
              <a:rPr lang="es-ES" dirty="0" err="1"/>
              <a:t>doing</a:t>
            </a:r>
            <a:r>
              <a:rPr lang="es-ES" dirty="0"/>
              <a:t> </a:t>
            </a:r>
            <a:r>
              <a:rPr lang="es-ES" dirty="0" err="1"/>
              <a:t>yesterday</a:t>
            </a:r>
            <a:r>
              <a:rPr lang="es-ES" dirty="0"/>
              <a:t> at 7:00 pm?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49D0825-F991-0DA8-CE35-52FCFD616F09}"/>
              </a:ext>
            </a:extLst>
          </p:cNvPr>
          <p:cNvSpPr txBox="1"/>
          <p:nvPr/>
        </p:nvSpPr>
        <p:spPr>
          <a:xfrm>
            <a:off x="1125728" y="1668272"/>
            <a:ext cx="8384032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At 7 o’clock last night,  I </a:t>
            </a:r>
            <a:r>
              <a:rPr lang="en-US" sz="2800" dirty="0">
                <a:solidFill>
                  <a:srgbClr val="FF0000"/>
                </a:solidFill>
              </a:rPr>
              <a:t>was</a:t>
            </a:r>
            <a:r>
              <a:rPr lang="en-US" sz="2800" dirty="0"/>
              <a:t>…</a:t>
            </a:r>
          </a:p>
          <a:p>
            <a:r>
              <a:rPr lang="en-US" sz="2800" dirty="0"/>
              <a:t>At 7 o’clock last night,  Mark and Ann </a:t>
            </a:r>
            <a:r>
              <a:rPr lang="en-US" sz="2800" dirty="0">
                <a:solidFill>
                  <a:srgbClr val="FF0000"/>
                </a:solidFill>
              </a:rPr>
              <a:t>were</a:t>
            </a:r>
            <a:r>
              <a:rPr lang="en-US" sz="2800" dirty="0"/>
              <a:t>…</a:t>
            </a:r>
          </a:p>
          <a:p>
            <a:endParaRPr lang="en-US" sz="2800" dirty="0"/>
          </a:p>
          <a:p>
            <a:endParaRPr lang="en-US" sz="2800" dirty="0"/>
          </a:p>
          <a:p>
            <a:r>
              <a:rPr lang="en-US" sz="2800" dirty="0"/>
              <a:t>…cooking dinner </a:t>
            </a:r>
          </a:p>
          <a:p>
            <a:r>
              <a:rPr lang="en-US" sz="2800" dirty="0"/>
              <a:t>…eating dinner </a:t>
            </a:r>
          </a:p>
          <a:p>
            <a:r>
              <a:rPr lang="en-US" sz="2800" dirty="0"/>
              <a:t>…reading a book </a:t>
            </a:r>
          </a:p>
          <a:p>
            <a:r>
              <a:rPr lang="en-US" sz="2800" dirty="0"/>
              <a:t>…watching a TV series</a:t>
            </a:r>
          </a:p>
          <a:p>
            <a:r>
              <a:rPr lang="en-US" sz="2800" dirty="0"/>
              <a:t>…speaking on the phone</a:t>
            </a:r>
          </a:p>
          <a:p>
            <a:r>
              <a:rPr lang="en-US" sz="2800" dirty="0"/>
              <a:t>…studying</a:t>
            </a:r>
          </a:p>
          <a:p>
            <a:r>
              <a:rPr lang="en-US" sz="2800" dirty="0"/>
              <a:t>…working</a:t>
            </a:r>
          </a:p>
          <a:p>
            <a:r>
              <a:rPr lang="en-US" sz="2800" dirty="0"/>
              <a:t>…driving home</a:t>
            </a:r>
            <a:endParaRPr lang="es-ES" sz="2800" dirty="0"/>
          </a:p>
        </p:txBody>
      </p:sp>
    </p:spTree>
    <p:extLst>
      <p:ext uri="{BB962C8B-B14F-4D97-AF65-F5344CB8AC3E}">
        <p14:creationId xmlns:p14="http://schemas.microsoft.com/office/powerpoint/2010/main" val="34111184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898236-11BF-5608-CECE-B5B488141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PAST CONTINUOUS VS PAST SIMPLE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918484F-CE60-E745-FEBB-A06F74B3C2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029" y="1899920"/>
            <a:ext cx="11161941" cy="4785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533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898236-11BF-5608-CECE-B5B488141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PAST CONTINUOUS VS PAST SIMPLE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826E34A-54CF-8573-FF64-86D59679A79E}"/>
              </a:ext>
            </a:extLst>
          </p:cNvPr>
          <p:cNvSpPr txBox="1"/>
          <p:nvPr/>
        </p:nvSpPr>
        <p:spPr>
          <a:xfrm>
            <a:off x="1024128" y="2184400"/>
            <a:ext cx="10355072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We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often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use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these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tenses to show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action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interrupting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another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action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0" lang="es-ES" altLang="es-E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24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 </a:t>
            </a:r>
            <a:r>
              <a:rPr kumimoji="0" lang="es-ES" altLang="es-ES" sz="24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broke</a:t>
            </a:r>
            <a:r>
              <a:rPr kumimoji="0" lang="es-ES" altLang="es-E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24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my</a:t>
            </a:r>
            <a:r>
              <a:rPr kumimoji="0" lang="es-ES" altLang="es-E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24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leg</a:t>
            </a:r>
            <a:r>
              <a:rPr kumimoji="0" lang="es-ES" altLang="es-E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24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while</a:t>
            </a:r>
            <a:r>
              <a:rPr kumimoji="0" lang="es-ES" altLang="es-E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 </a:t>
            </a:r>
            <a:r>
              <a:rPr kumimoji="0" lang="es-ES" altLang="es-ES" sz="24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was</a:t>
            </a:r>
            <a:r>
              <a:rPr kumimoji="0" lang="es-ES" altLang="es-E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24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skiing</a:t>
            </a:r>
            <a:r>
              <a:rPr kumimoji="0" lang="es-ES" altLang="es-E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b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s-ES" altLang="es-E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 I </a:t>
            </a:r>
            <a:r>
              <a:rPr kumimoji="0" lang="es-ES" altLang="es-ES" sz="24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was</a:t>
            </a:r>
            <a:r>
              <a:rPr kumimoji="0" lang="es-ES" altLang="es-E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24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going</a:t>
            </a:r>
            <a:r>
              <a:rPr kumimoji="0" lang="es-ES" altLang="es-E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</a:t>
            </a:r>
            <a:r>
              <a:rPr kumimoji="0" lang="es-ES" altLang="es-ES" sz="24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work</a:t>
            </a:r>
            <a:r>
              <a:rPr kumimoji="0" lang="es-ES" altLang="es-E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I saw </a:t>
            </a:r>
            <a:r>
              <a:rPr kumimoji="0" lang="es-ES" altLang="es-ES" sz="24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</a:t>
            </a:r>
            <a:r>
              <a:rPr kumimoji="0" lang="es-ES" altLang="es-E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24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old</a:t>
            </a:r>
            <a:r>
              <a:rPr kumimoji="0" lang="es-ES" altLang="es-E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24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friend</a:t>
            </a:r>
            <a:r>
              <a:rPr kumimoji="0" lang="es-ES" altLang="es-E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b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s-ES" altLang="es-ES" sz="24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</a:t>
            </a:r>
            <a:r>
              <a:rPr kumimoji="0" lang="es-ES" altLang="es-E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24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were</a:t>
            </a:r>
            <a:r>
              <a:rPr kumimoji="0" lang="es-ES" altLang="es-E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24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watching</a:t>
            </a:r>
            <a:r>
              <a:rPr kumimoji="0" lang="es-ES" altLang="es-E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24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television</a:t>
            </a:r>
            <a:r>
              <a:rPr kumimoji="0" lang="es-ES" altLang="es-E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24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when</a:t>
            </a:r>
            <a:r>
              <a:rPr kumimoji="0" lang="es-ES" altLang="es-E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24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es-ES" altLang="es-E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24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power</a:t>
            </a:r>
            <a:r>
              <a:rPr kumimoji="0" lang="es-ES" altLang="es-E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24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went</a:t>
            </a:r>
            <a:r>
              <a:rPr kumimoji="0" lang="es-ES" altLang="es-E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off.</a:t>
            </a:r>
            <a:endParaRPr kumimoji="0" lang="es-ES" altLang="es-E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ES" altLang="es-ES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Can you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see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difference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in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meaning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these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two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sentences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below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kumimoji="0" lang="es-ES" altLang="es-E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24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24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When</a:t>
            </a:r>
            <a:r>
              <a:rPr kumimoji="0" lang="es-ES" altLang="es-E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24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es-ES" altLang="es-E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24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guests</a:t>
            </a:r>
            <a:r>
              <a:rPr kumimoji="0" lang="es-ES" altLang="es-E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24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arrived</a:t>
            </a:r>
            <a:r>
              <a:rPr kumimoji="0" lang="es-ES" altLang="es-E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Jane </a:t>
            </a:r>
            <a:r>
              <a:rPr kumimoji="0" lang="es-ES" altLang="es-ES" sz="24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was</a:t>
            </a:r>
            <a:r>
              <a:rPr kumimoji="0" lang="es-ES" altLang="es-E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24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cooking</a:t>
            </a:r>
            <a:r>
              <a:rPr kumimoji="0" lang="es-ES" altLang="es-E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24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dinner</a:t>
            </a:r>
            <a:r>
              <a:rPr kumimoji="0" lang="es-ES" altLang="es-E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b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s-ES" altLang="es-ES" sz="24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When</a:t>
            </a:r>
            <a:r>
              <a:rPr kumimoji="0" lang="es-ES" altLang="es-E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24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es-ES" altLang="es-E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24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guests</a:t>
            </a:r>
            <a:r>
              <a:rPr kumimoji="0" lang="es-ES" altLang="es-E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24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arrived</a:t>
            </a:r>
            <a:r>
              <a:rPr kumimoji="0" lang="es-ES" altLang="es-E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Jane </a:t>
            </a:r>
            <a:r>
              <a:rPr kumimoji="0" lang="es-ES" altLang="es-ES" sz="24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cooked</a:t>
            </a:r>
            <a:r>
              <a:rPr kumimoji="0" lang="es-ES" altLang="es-E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24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dinner</a:t>
            </a:r>
            <a:r>
              <a:rPr kumimoji="0" lang="es-ES" altLang="es-E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es-ES" altLang="es-E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s-ES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948C6945-B76C-C2ED-D682-5A598E65C3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94565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13913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59CFDB-1631-9AB2-BF79-2ADE48C1B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WHEN/WHILE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1456017-A50C-AB11-E429-AADDD9E472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6277" y="585216"/>
            <a:ext cx="7839123" cy="5205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5873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D25FD0EF-C1A5-BC35-E345-A72FB6F9017E}"/>
              </a:ext>
            </a:extLst>
          </p:cNvPr>
          <p:cNvSpPr txBox="1"/>
          <p:nvPr/>
        </p:nvSpPr>
        <p:spPr>
          <a:xfrm>
            <a:off x="975360" y="1371600"/>
            <a:ext cx="1040384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WHILE + past continuous</a:t>
            </a:r>
          </a:p>
          <a:p>
            <a:r>
              <a:rPr lang="en-US" sz="2400" b="1" dirty="0"/>
              <a:t>	</a:t>
            </a:r>
            <a:r>
              <a:rPr lang="en-US" sz="2400" i="1" dirty="0">
                <a:solidFill>
                  <a:srgbClr val="FF0000"/>
                </a:solidFill>
              </a:rPr>
              <a:t>While </a:t>
            </a:r>
            <a:r>
              <a:rPr lang="en-US" sz="2400" i="1" dirty="0"/>
              <a:t>the technicians were repairing my computer, Mark and I were preparing the invoice. </a:t>
            </a:r>
            <a:endParaRPr lang="es-ES" sz="2400" i="1" dirty="0"/>
          </a:p>
          <a:p>
            <a:endParaRPr lang="en-US" sz="2400" b="1" dirty="0"/>
          </a:p>
          <a:p>
            <a:r>
              <a:rPr lang="en-US" sz="2400" b="1" dirty="0"/>
              <a:t>WHEN + past simple</a:t>
            </a:r>
          </a:p>
          <a:p>
            <a:r>
              <a:rPr lang="en-US" sz="2400" i="1" dirty="0">
                <a:solidFill>
                  <a:srgbClr val="FF0000"/>
                </a:solidFill>
              </a:rPr>
              <a:t>	When </a:t>
            </a:r>
            <a:r>
              <a:rPr lang="en-US" sz="2400" i="1" dirty="0"/>
              <a:t>technicians she arrived, Mark and I were preparing the invoice. </a:t>
            </a:r>
            <a:endParaRPr lang="es-ES" sz="2400" i="1" dirty="0"/>
          </a:p>
          <a:p>
            <a:endParaRPr lang="en-US" sz="2400" dirty="0"/>
          </a:p>
          <a:p>
            <a:r>
              <a:rPr lang="en-US" sz="2400" b="1" dirty="0"/>
              <a:t>AS + past continuous</a:t>
            </a:r>
            <a:r>
              <a:rPr lang="en-US" sz="2400" dirty="0"/>
              <a:t>(simultaneous background action=while)</a:t>
            </a:r>
          </a:p>
          <a:p>
            <a:r>
              <a:rPr lang="en-US" sz="2400" i="1" dirty="0"/>
              <a:t>	As I was revising the presentation, the light went off</a:t>
            </a:r>
          </a:p>
          <a:p>
            <a:endParaRPr lang="en-US" sz="2400" i="1" dirty="0"/>
          </a:p>
          <a:p>
            <a:r>
              <a:rPr lang="en-US" sz="2400" b="1" dirty="0"/>
              <a:t>DURING + period of time/noun</a:t>
            </a:r>
          </a:p>
          <a:p>
            <a:r>
              <a:rPr lang="en-US" sz="2400" i="1" dirty="0"/>
              <a:t>	During his lunch hour, Tim was buying a new camera at the department store.</a:t>
            </a:r>
          </a:p>
        </p:txBody>
      </p:sp>
    </p:spTree>
    <p:extLst>
      <p:ext uri="{BB962C8B-B14F-4D97-AF65-F5344CB8AC3E}">
        <p14:creationId xmlns:p14="http://schemas.microsoft.com/office/powerpoint/2010/main" val="14763844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0D6985-95AD-9EC8-0CE6-DA876958F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What</a:t>
            </a:r>
            <a:r>
              <a:rPr lang="es-ES" dirty="0"/>
              <a:t> </a:t>
            </a:r>
            <a:r>
              <a:rPr lang="es-ES" dirty="0" err="1"/>
              <a:t>were</a:t>
            </a:r>
            <a:r>
              <a:rPr lang="es-ES" dirty="0"/>
              <a:t> THESE PEOPLE </a:t>
            </a:r>
            <a:r>
              <a:rPr lang="es-ES" dirty="0" err="1"/>
              <a:t>doing</a:t>
            </a:r>
            <a:r>
              <a:rPr lang="es-ES" dirty="0"/>
              <a:t> </a:t>
            </a:r>
            <a:r>
              <a:rPr lang="es-ES" dirty="0" err="1"/>
              <a:t>yesterday</a:t>
            </a:r>
            <a:r>
              <a:rPr lang="es-ES" dirty="0"/>
              <a:t>?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F14DDB2-5692-E0B0-3C38-08EABF37FB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393" y="2225041"/>
            <a:ext cx="11178883" cy="2548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9262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0D6985-95AD-9EC8-0CE6-DA876958F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dirty="0">
                <a:solidFill>
                  <a:schemeClr val="tx1"/>
                </a:solidFill>
              </a:rPr>
              <a:t>What was happening</a:t>
            </a:r>
            <a:br>
              <a:rPr lang="en-US" sz="5400" dirty="0">
                <a:solidFill>
                  <a:schemeClr val="tx1"/>
                </a:solidFill>
              </a:rPr>
            </a:br>
            <a:r>
              <a:rPr lang="en-US" sz="5400" dirty="0">
                <a:solidFill>
                  <a:schemeClr val="tx1"/>
                </a:solidFill>
              </a:rPr>
              <a:t>yesterday at 17:00?</a:t>
            </a:r>
            <a:endParaRPr lang="es-ES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4FCE366-9529-FFFB-0146-B84853110B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6000" y="-14909"/>
            <a:ext cx="5802986" cy="68878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4 CuadroTexto">
            <a:extLst>
              <a:ext uri="{FF2B5EF4-FFF2-40B4-BE49-F238E27FC236}">
                <a16:creationId xmlns:a16="http://schemas.microsoft.com/office/drawing/2014/main" id="{C8E156DE-8F61-3C63-3057-FDCFE96A9A3A}"/>
              </a:ext>
            </a:extLst>
          </p:cNvPr>
          <p:cNvSpPr txBox="1"/>
          <p:nvPr/>
        </p:nvSpPr>
        <p:spPr>
          <a:xfrm>
            <a:off x="1024129" y="2286000"/>
            <a:ext cx="3791711" cy="393192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</a:pPr>
            <a:r>
              <a:rPr lang="en-US" dirty="0"/>
              <a:t>Ex: </a:t>
            </a:r>
            <a:r>
              <a:rPr lang="en-US" i="1" u="sng" dirty="0"/>
              <a:t>Alf</a:t>
            </a:r>
            <a:r>
              <a:rPr lang="en-US" i="1" dirty="0"/>
              <a:t> wasn’t working, he was sleeping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</a:pPr>
            <a:endParaRPr lang="en-US" dirty="0"/>
          </a:p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</a:pPr>
            <a:r>
              <a:rPr lang="en-US" dirty="0"/>
              <a:t>- Work/sleep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</a:pPr>
            <a:r>
              <a:rPr lang="en-US" dirty="0"/>
              <a:t>- Talk on the phone /listen to the radio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</a:pPr>
            <a:r>
              <a:rPr lang="en-US" dirty="0"/>
              <a:t>- Send letters/play cards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</a:pPr>
            <a:r>
              <a:rPr lang="en-US" dirty="0"/>
              <a:t>- Write a report/ do a crossword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</a:pPr>
            <a:r>
              <a:rPr lang="en-US" dirty="0"/>
              <a:t>- Send emails/Cut her nails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</a:pPr>
            <a:r>
              <a:rPr lang="en-US" dirty="0"/>
              <a:t>- Classify documents/ look at photos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</a:pPr>
            <a:r>
              <a:rPr lang="en-US" dirty="0"/>
              <a:t>- Phone customers /read a magazine</a:t>
            </a:r>
          </a:p>
        </p:txBody>
      </p:sp>
    </p:spTree>
    <p:extLst>
      <p:ext uri="{BB962C8B-B14F-4D97-AF65-F5344CB8AC3E}">
        <p14:creationId xmlns:p14="http://schemas.microsoft.com/office/powerpoint/2010/main" val="18149561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0D51E6-FB33-8338-EE56-88F161796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Weblinks</a:t>
            </a:r>
            <a:endParaRPr lang="es-ES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82BD307-BE27-4198-DC10-90BFCB110595}"/>
              </a:ext>
            </a:extLst>
          </p:cNvPr>
          <p:cNvSpPr txBox="1"/>
          <p:nvPr/>
        </p:nvSpPr>
        <p:spPr>
          <a:xfrm>
            <a:off x="1097280" y="2519680"/>
            <a:ext cx="981456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s-ES" dirty="0">
                <a:hlinkClick r:id="rId2"/>
              </a:rPr>
              <a:t>https://www.baamboozle.com/game/138648</a:t>
            </a:r>
            <a:endParaRPr lang="es-ES" dirty="0"/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s-E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s-ES" dirty="0">
                <a:hlinkClick r:id="rId3"/>
              </a:rPr>
              <a:t>https://learnenglish.britishcouncil.org/grammar/a1-a2-grammar/past-continuous-past-simple</a:t>
            </a:r>
            <a:endParaRPr lang="es-E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s-ES" dirty="0">
                <a:hlinkClick r:id="rId4"/>
              </a:rPr>
              <a:t>https://test-english.com/grammar-points/a2/past-continuous-past-simple/</a:t>
            </a:r>
            <a:endParaRPr lang="es-ES" dirty="0"/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s-ES" dirty="0"/>
          </a:p>
          <a:p>
            <a:r>
              <a:rPr lang="es-ES" dirty="0"/>
              <a:t>BURLINGTON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s-ES" dirty="0" err="1"/>
              <a:t>chrome-extension</a:t>
            </a:r>
            <a:r>
              <a:rPr lang="es-ES" dirty="0"/>
              <a:t>://</a:t>
            </a:r>
            <a:r>
              <a:rPr lang="es-ES" dirty="0" err="1"/>
              <a:t>efaidnbmnnnibpcajpcglclefindmkaj</a:t>
            </a:r>
            <a:r>
              <a:rPr lang="es-ES" dirty="0"/>
              <a:t>/https://cdn.burlingtonenglish.com/cache/worksheets/13/136302_f74bb66a9938dde2ee8c430ad24094a3.pdf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s-ES" dirty="0" err="1"/>
              <a:t>chrome-extension</a:t>
            </a:r>
            <a:r>
              <a:rPr lang="es-ES" dirty="0"/>
              <a:t>://</a:t>
            </a:r>
            <a:r>
              <a:rPr lang="es-ES" dirty="0" err="1"/>
              <a:t>efaidnbmnnnibpcajpcglclefindmkaj</a:t>
            </a:r>
            <a:r>
              <a:rPr lang="es-ES" dirty="0"/>
              <a:t>/https://cdn.burlingtonenglish.com/cache/worksheets/13/136303_a11a0df87db64aa0a8f2b0bb25c13d2b.pdf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s-ES" dirty="0"/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022908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74B341-1116-DA47-BF7C-2C8F05D0E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Thank</a:t>
            </a:r>
            <a:r>
              <a:rPr lang="es-ES" dirty="0"/>
              <a:t> you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E06D83A-87DF-8818-A98F-0B6CEAC1EB2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s-ES" dirty="0"/>
              <a:t>Caterina Ines Latella</a:t>
            </a:r>
          </a:p>
        </p:txBody>
      </p:sp>
      <p:pic>
        <p:nvPicPr>
          <p:cNvPr id="15" name="Marcador de posición de imagen 14" descr="Patrón de fondo&#10;&#10;AI-generated content may be incorrect.">
            <a:extLst>
              <a:ext uri="{FF2B5EF4-FFF2-40B4-BE49-F238E27FC236}">
                <a16:creationId xmlns:a16="http://schemas.microsoft.com/office/drawing/2014/main" id="{FEE74971-795E-6338-D70F-0E24C376F9A5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26941" b="26941"/>
          <a:stretch>
            <a:fillRect/>
          </a:stretch>
        </p:blipFill>
        <p:spPr>
          <a:noFill/>
        </p:spPr>
      </p:pic>
    </p:spTree>
    <p:extLst>
      <p:ext uri="{BB962C8B-B14F-4D97-AF65-F5344CB8AC3E}">
        <p14:creationId xmlns:p14="http://schemas.microsoft.com/office/powerpoint/2010/main" val="289291488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276</TotalTime>
  <Words>593</Words>
  <Application>Microsoft Office PowerPoint</Application>
  <PresentationFormat>Panorámica</PresentationFormat>
  <Paragraphs>93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9" baseType="lpstr">
      <vt:lpstr>Arial</vt:lpstr>
      <vt:lpstr>Tw Cen MT</vt:lpstr>
      <vt:lpstr>Tw Cen MT Condensed</vt:lpstr>
      <vt:lpstr>Wingdings</vt:lpstr>
      <vt:lpstr>Wingdings 3</vt:lpstr>
      <vt:lpstr>Integral</vt:lpstr>
      <vt:lpstr>PAST CONTINUOUS</vt:lpstr>
      <vt:lpstr>index</vt:lpstr>
      <vt:lpstr>PAST CONTINUOUS: was/were+ V-ing</vt:lpstr>
      <vt:lpstr>form</vt:lpstr>
      <vt:lpstr>What were you doing yesterday at 7:00 pm?</vt:lpstr>
      <vt:lpstr>PAST CONTINUOUS VS PAST SIMPLE</vt:lpstr>
      <vt:lpstr>PAST CONTINUOUS VS PAST SIMPLE</vt:lpstr>
      <vt:lpstr>WHEN/WHILE</vt:lpstr>
      <vt:lpstr>Presentación de PowerPoint</vt:lpstr>
      <vt:lpstr>What were THESE PEOPLE doing yesterday?</vt:lpstr>
      <vt:lpstr>What was happening yesterday at 17:00?</vt:lpstr>
      <vt:lpstr>Weblinks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Caterina Ines Latella</dc:creator>
  <cp:lastModifiedBy>Caterina Ines Latella</cp:lastModifiedBy>
  <cp:revision>2</cp:revision>
  <dcterms:created xsi:type="dcterms:W3CDTF">2025-11-30T16:02:44Z</dcterms:created>
  <dcterms:modified xsi:type="dcterms:W3CDTF">2025-11-30T20:43:00Z</dcterms:modified>
</cp:coreProperties>
</file>